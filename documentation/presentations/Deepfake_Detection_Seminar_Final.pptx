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0.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9" r:id="rId1"/>
  </p:sldMasterIdLst>
  <p:notesMasterIdLst>
    <p:notesMasterId r:id="rId28"/>
  </p:notesMasterIdLst>
  <p:sldIdLst>
    <p:sldId id="273" r:id="rId2"/>
    <p:sldId id="274" r:id="rId3"/>
    <p:sldId id="275" r:id="rId4"/>
    <p:sldId id="257" r:id="rId5"/>
    <p:sldId id="258" r:id="rId6"/>
    <p:sldId id="287" r:id="rId23"/>
    <p:sldId id="259" r:id="rId8"/>
    <p:sldId id="279" r:id="rId10"/>
    <p:sldId id="261" r:id="rId11"/>
    <p:sldId id="262" r:id="rId12"/>
    <p:sldId id="264" r:id="rId14"/>
    <p:sldId id="280" r:id="rId15"/>
    <p:sldId id="265" r:id="rId16"/>
    <p:sldId id="266" r:id="rId17"/>
    <p:sldId id="281" r:id="rId18"/>
    <p:sldId id="267" r:id="rId19"/>
    <p:sldId id="286" r:id="rId24"/>
    <p:sldId id="284" r:id="rId26"/>
    <p:sldId id="285" r:id="rId25"/>
    <p:sldId id="276" r:id="rId27"/>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93913C-3334-4F4F-97F2-648285E885A4}" v="2" dt="2026-10-08T02:12:01.5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p:scale>
          <a:sx n="66" d="100"/>
          <a:sy n="66" d="100"/>
        </p:scale>
        <p:origin x="1330" y="5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3" Type="http://schemas.openxmlformats.org/officeDocument/2006/relationships/slide" Target="slides/slide21.xml"/><Relationship Id="rId24" Type="http://schemas.openxmlformats.org/officeDocument/2006/relationships/slide" Target="slides/slide17.xml"/><Relationship Id="rId25" Type="http://schemas.openxmlformats.org/officeDocument/2006/relationships/slide" Target="slides/slide19.xml"/><Relationship Id="rId26" Type="http://schemas.openxmlformats.org/officeDocument/2006/relationships/slide" Target="slides/slide18.xml"/><Relationship Id="rId27" Type="http://schemas.openxmlformats.org/officeDocument/2006/relationships/slide" Target="slides/slide20.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 Id="rId33" Type="http://schemas.microsoft.com/office/2016/11/relationships/changesInfo" Target="changesInfos/changesInfo1.xml"/><Relationship Id="rId3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ia c" userId="f2b727c52772bf48" providerId="LiveId" clId="{4E95498F-7694-45C8-9C4B-D32EE9490429}"/>
    <pc:docChg chg="modSld">
      <pc:chgData name="jia c" userId="f2b727c52772bf48" providerId="LiveId" clId="{4E95498F-7694-45C8-9C4B-D32EE9490429}" dt="2026-10-08T02:12:01.510" v="2" actId="767"/>
      <pc:docMkLst>
        <pc:docMk/>
      </pc:docMkLst>
      <pc:sldChg chg="addSp delSp modSp">
        <pc:chgData name="jia c" userId="f2b727c52772bf48" providerId="LiveId" clId="{4E95498F-7694-45C8-9C4B-D32EE9490429}" dt="2026-10-08T02:12:01.510" v="2" actId="767"/>
        <pc:sldMkLst>
          <pc:docMk/>
          <pc:sldMk cId="0" sldId="285"/>
        </pc:sldMkLst>
        <pc:spChg chg="add del mod">
          <ac:chgData name="jia c" userId="f2b727c52772bf48" providerId="LiveId" clId="{4E95498F-7694-45C8-9C4B-D32EE9490429}" dt="2026-10-08T02:12:01.494" v="1"/>
          <ac:spMkLst>
            <pc:docMk/>
            <pc:sldMk cId="0" sldId="285"/>
            <ac:spMk id="7" creationId="{56BD8CE7-D9A4-476D-A2C4-403D1477D3F6}"/>
          </ac:spMkLst>
        </pc:spChg>
        <pc:spChg chg="add mod">
          <ac:chgData name="jia c" userId="f2b727c52772bf48" providerId="LiveId" clId="{4E95498F-7694-45C8-9C4B-D32EE9490429}" dt="2026-10-08T02:12:01.510" v="2" actId="767"/>
          <ac:spMkLst>
            <pc:docMk/>
            <pc:sldMk cId="0" sldId="285"/>
            <ac:spMk id="9" creationId="{2C0D7425-2FEB-ACA5-350F-25A2ABC660D7}"/>
          </ac:spMkLst>
        </pc:spChg>
      </pc:sldChg>
    </pc:docChg>
  </pc:docChgLst>
</pc:chgInfo>
</file>

<file path=ppt/diagrams/_rels/data1.xml.rels><?xml version='1.0' encoding='UTF-8' standalone='yes'?>
<Relationships xmlns="http://schemas.openxmlformats.org/package/2006/relationships"><Relationship Id="rId1" Type="http://schemas.openxmlformats.org/officeDocument/2006/relationships/image" Target="../media/image8.svg"/><Relationship Id="rId2" Type="http://schemas.openxmlformats.org/officeDocument/2006/relationships/image" Target="../media/image9.svg"/><Relationship Id="rId3" Type="http://schemas.openxmlformats.org/officeDocument/2006/relationships/image" Target="../media/image10.svg"/></Relationships>
</file>

<file path=ppt/diagrams/_rels/drawing1.xml.rels><?xml version='1.0' encoding='UTF-8' standalone='yes'?>
<Relationships xmlns="http://schemas.openxmlformats.org/package/2006/relationships"><Relationship Id="rId1" Type="http://schemas.openxmlformats.org/officeDocument/2006/relationships/image" Target="../media/image8.svg"/><Relationship Id="rId2" Type="http://schemas.openxmlformats.org/officeDocument/2006/relationships/image" Target="../media/image9.svg"/><Relationship Id="rId3"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5FD697F-D5B4-4BC3-8E1C-1852767C496E}" type="doc">
      <dgm:prSet loTypeId="urn:microsoft.com/office/officeart/2018/2/layout/IconVerticalSolidList" loCatId="icon" qsTypeId="urn:microsoft.com/office/officeart/2005/8/quickstyle/simple1#19" qsCatId="simple" csTypeId="urn:microsoft.com/office/officeart/2018/5/colors/Iconchunking_neutralbg_colorful5" csCatId="colorful" phldr="1"/>
      <dgm:spPr/>
      <dgm:t>
        <a:bodyPr/>
        <a:lstStyle/>
        <a:p>
          <a:endParaRPr lang="en-US"/>
        </a:p>
      </dgm:t>
    </dgm:pt>
    <dgm:pt modelId="{70532F2E-4AEB-4FD6-8C10-1835AE732C4C}">
      <dgm:prSet/>
      <dgm:spPr/>
      <dgm:t>
        <a:bodyPr/>
        <a:lstStyle/>
        <a:p>
          <a:pPr>
            <a:lnSpc>
              <a:spcPct val="100000"/>
            </a:lnSpc>
          </a:pPr>
          <a:r>
            <a:rPr lang="en-US" dirty="0">
              <a:latin typeface="Aerial"/>
              <a:ea typeface="Cambria" panose="02040503050406030204" pitchFamily="18" charset="0"/>
            </a:rPr>
            <a:t>A video is generated or manipulated using Generative Adversarial Networks (GANs), producing hyper-realistic fake media.</a:t>
          </a:r>
        </a:p>
      </dgm:t>
    </dgm:pt>
    <dgm:pt modelId="{B68F9100-BAC8-40A6-B75F-47DCBB3E6B50}" type="parTrans" cxnId="{C278D240-5721-4BA2-BB43-7D20E50B7A0D}">
      <dgm:prSet/>
      <dgm:spPr/>
      <dgm:t>
        <a:bodyPr/>
        <a:lstStyle/>
        <a:p>
          <a:endParaRPr lang="en-US"/>
        </a:p>
      </dgm:t>
    </dgm:pt>
    <dgm:pt modelId="{F66A4D9D-A90E-4515-BF3E-7B04FB3C7030}" type="sibTrans" cxnId="{C278D240-5721-4BA2-BB43-7D20E50B7A0D}">
      <dgm:prSet/>
      <dgm:spPr/>
      <dgm:t>
        <a:bodyPr/>
        <a:lstStyle/>
        <a:p>
          <a:pPr>
            <a:lnSpc>
              <a:spcPct val="100000"/>
            </a:lnSpc>
          </a:pPr>
          <a:endParaRPr lang="en-US"/>
        </a:p>
      </dgm:t>
    </dgm:pt>
    <dgm:pt modelId="{A89B32E5-283A-4FB0-9EC1-FC763E40E1BC}">
      <dgm:prSet/>
      <dgm:spPr/>
      <dgm:t>
        <a:bodyPr/>
        <a:lstStyle/>
        <a:p>
          <a:pPr>
            <a:lnSpc>
              <a:spcPct val="100000"/>
            </a:lnSpc>
          </a:pPr>
          <a:r>
            <a:rPr lang="en-US" dirty="0">
              <a:latin typeface="Aerial"/>
              <a:ea typeface="Cambria" panose="02040503050406030204" pitchFamily="18" charset="0"/>
            </a:rPr>
            <a:t>Detection systems split the video into frames and analyze each one for spatial artifacts — unnatural textures, blending edges, or lighting mismatches.</a:t>
          </a:r>
        </a:p>
      </dgm:t>
    </dgm:pt>
    <dgm:pt modelId="{FC97F4D0-3BFC-486E-BA03-57353BC8E80A}" type="parTrans" cxnId="{F3828839-B4B0-40A6-86C9-03D1E9D679E7}">
      <dgm:prSet/>
      <dgm:spPr/>
      <dgm:t>
        <a:bodyPr/>
        <a:lstStyle/>
        <a:p>
          <a:endParaRPr lang="en-US"/>
        </a:p>
      </dgm:t>
    </dgm:pt>
    <dgm:pt modelId="{F7D45140-E4B4-40D3-96DB-641DA25243D7}" type="sibTrans" cxnId="{F3828839-B4B0-40A6-86C9-03D1E9D679E7}">
      <dgm:prSet/>
      <dgm:spPr/>
      <dgm:t>
        <a:bodyPr/>
        <a:lstStyle/>
        <a:p>
          <a:pPr>
            <a:lnSpc>
              <a:spcPct val="100000"/>
            </a:lnSpc>
          </a:pPr>
          <a:endParaRPr lang="en-US"/>
        </a:p>
      </dgm:t>
    </dgm:pt>
    <dgm:pt modelId="{10028266-7DA1-47EC-8B54-6517263039E4}">
      <dgm:prSet/>
      <dgm:spPr/>
      <dgm:t>
        <a:bodyPr/>
        <a:lstStyle/>
        <a:p>
          <a:pPr>
            <a:lnSpc>
              <a:spcPct val="100000"/>
            </a:lnSpc>
          </a:pPr>
          <a:r>
            <a:rPr lang="en-IN" dirty="0">
              <a:latin typeface="Aerial"/>
              <a:ea typeface="Cambria" panose="02040503050406030204" pitchFamily="18" charset="0"/>
            </a:rPr>
            <a:t>Advanced detectors also study temporal inconsistencies across frames to catch motion and expression flaws that GANs struggle to keep consistent</a:t>
          </a:r>
          <a:r>
            <a:rPr lang="en-IN" dirty="0">
              <a:latin typeface="Aerial"/>
            </a:rPr>
            <a:t>. </a:t>
          </a:r>
          <a:endParaRPr lang="en-US" dirty="0">
            <a:latin typeface="Aerial"/>
          </a:endParaRPr>
        </a:p>
      </dgm:t>
    </dgm:pt>
    <dgm:pt modelId="{1F9D942E-CF0D-4E0F-A7A0-DB6DF81F0EBE}" type="parTrans" cxnId="{AC18C8E2-88CD-4A54-855F-71A7719F1E56}">
      <dgm:prSet/>
      <dgm:spPr/>
      <dgm:t>
        <a:bodyPr/>
        <a:lstStyle/>
        <a:p>
          <a:endParaRPr lang="en-US"/>
        </a:p>
      </dgm:t>
    </dgm:pt>
    <dgm:pt modelId="{A5FBAF57-03C2-4CFC-983F-69D071D80890}" type="sibTrans" cxnId="{AC18C8E2-88CD-4A54-855F-71A7719F1E56}">
      <dgm:prSet/>
      <dgm:spPr/>
      <dgm:t>
        <a:bodyPr/>
        <a:lstStyle/>
        <a:p>
          <a:endParaRPr lang="en-US"/>
        </a:p>
      </dgm:t>
    </dgm:pt>
    <dgm:pt modelId="{48498948-55B7-4AE8-BD68-E842EDDA2CEC}" type="pres">
      <dgm:prSet presAssocID="{85FD697F-D5B4-4BC3-8E1C-1852767C496E}" presName="root" presStyleCnt="0">
        <dgm:presLayoutVars>
          <dgm:dir/>
          <dgm:resizeHandles val="exact"/>
        </dgm:presLayoutVars>
      </dgm:prSet>
      <dgm:spPr/>
    </dgm:pt>
    <dgm:pt modelId="{16DF53B1-726A-419B-B118-61B96158CA7A}" type="pres">
      <dgm:prSet presAssocID="{70532F2E-4AEB-4FD6-8C10-1835AE732C4C}" presName="compNode" presStyleCnt="0"/>
      <dgm:spPr/>
    </dgm:pt>
    <dgm:pt modelId="{57166F73-65EE-4F62-8F26-4EEBADF9E50D}" type="pres">
      <dgm:prSet presAssocID="{70532F2E-4AEB-4FD6-8C10-1835AE732C4C}" presName="bgRect" presStyleLbl="bgShp" presStyleIdx="0" presStyleCnt="3" custLinFactNeighborX="-1838" custLinFactNeighborY="-43"/>
      <dgm:spPr/>
    </dgm:pt>
    <dgm:pt modelId="{8671A60B-80B9-48D8-BA82-D488D7B88800}" type="pres">
      <dgm:prSet presAssocID="{70532F2E-4AEB-4FD6-8C10-1835AE732C4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grammer"/>
        </a:ext>
      </dgm:extLst>
    </dgm:pt>
    <dgm:pt modelId="{E1F51443-B87C-4939-B721-DA45EE99EEEC}" type="pres">
      <dgm:prSet presAssocID="{70532F2E-4AEB-4FD6-8C10-1835AE732C4C}" presName="spaceRect" presStyleCnt="0"/>
      <dgm:spPr/>
    </dgm:pt>
    <dgm:pt modelId="{E12A8486-AE2F-41BA-9F19-00AA41CF439F}" type="pres">
      <dgm:prSet presAssocID="{70532F2E-4AEB-4FD6-8C10-1835AE732C4C}" presName="parTx" presStyleLbl="revTx" presStyleIdx="0" presStyleCnt="3">
        <dgm:presLayoutVars>
          <dgm:chMax val="0"/>
          <dgm:chPref val="0"/>
        </dgm:presLayoutVars>
      </dgm:prSet>
      <dgm:spPr/>
    </dgm:pt>
    <dgm:pt modelId="{FC53F2B0-7DA4-442F-B5E4-C21118FA5683}" type="pres">
      <dgm:prSet presAssocID="{F66A4D9D-A90E-4515-BF3E-7B04FB3C7030}" presName="sibTrans" presStyleCnt="0"/>
      <dgm:spPr/>
    </dgm:pt>
    <dgm:pt modelId="{30D93B0D-743B-4DEC-A0CD-BEEC0344857D}" type="pres">
      <dgm:prSet presAssocID="{A89B32E5-283A-4FB0-9EC1-FC763E40E1BC}" presName="compNode" presStyleCnt="0"/>
      <dgm:spPr/>
    </dgm:pt>
    <dgm:pt modelId="{41341230-FCAD-43F0-9578-E19E68344C13}" type="pres">
      <dgm:prSet presAssocID="{A89B32E5-283A-4FB0-9EC1-FC763E40E1BC}" presName="bgRect" presStyleLbl="bgShp" presStyleIdx="1" presStyleCnt="3"/>
      <dgm:spPr/>
    </dgm:pt>
    <dgm:pt modelId="{A5BCFA53-C3CA-490E-9F38-E9540F333204}" type="pres">
      <dgm:prSet presAssocID="{A89B32E5-283A-4FB0-9EC1-FC763E40E1BC}"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eb Design"/>
        </a:ext>
      </dgm:extLst>
    </dgm:pt>
    <dgm:pt modelId="{12D0EE6E-65D5-4DFD-AB91-AD68EFF145EE}" type="pres">
      <dgm:prSet presAssocID="{A89B32E5-283A-4FB0-9EC1-FC763E40E1BC}" presName="spaceRect" presStyleCnt="0"/>
      <dgm:spPr/>
    </dgm:pt>
    <dgm:pt modelId="{212D609C-97DE-4700-92F2-E3D4DF64A29B}" type="pres">
      <dgm:prSet presAssocID="{A89B32E5-283A-4FB0-9EC1-FC763E40E1BC}" presName="parTx" presStyleLbl="revTx" presStyleIdx="1" presStyleCnt="3">
        <dgm:presLayoutVars>
          <dgm:chMax val="0"/>
          <dgm:chPref val="0"/>
        </dgm:presLayoutVars>
      </dgm:prSet>
      <dgm:spPr/>
    </dgm:pt>
    <dgm:pt modelId="{B1EC1A5D-40C5-4BB6-815D-518EC3795156}" type="pres">
      <dgm:prSet presAssocID="{F7D45140-E4B4-40D3-96DB-641DA25243D7}" presName="sibTrans" presStyleCnt="0"/>
      <dgm:spPr/>
    </dgm:pt>
    <dgm:pt modelId="{D021B0C3-B304-4171-957A-31463C9C1C62}" type="pres">
      <dgm:prSet presAssocID="{10028266-7DA1-47EC-8B54-6517263039E4}" presName="compNode" presStyleCnt="0"/>
      <dgm:spPr/>
    </dgm:pt>
    <dgm:pt modelId="{A7903FF5-F369-44FB-BB74-C3095884EF50}" type="pres">
      <dgm:prSet presAssocID="{10028266-7DA1-47EC-8B54-6517263039E4}" presName="bgRect" presStyleLbl="bgShp" presStyleIdx="2" presStyleCnt="3"/>
      <dgm:spPr/>
    </dgm:pt>
    <dgm:pt modelId="{906AF930-55BD-4799-BBB0-7E2F66761B12}" type="pres">
      <dgm:prSet presAssocID="{10028266-7DA1-47EC-8B54-6517263039E4}"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peed Bump"/>
        </a:ext>
      </dgm:extLst>
    </dgm:pt>
    <dgm:pt modelId="{4C83B78B-AE0F-44FF-BD07-4697635E843E}" type="pres">
      <dgm:prSet presAssocID="{10028266-7DA1-47EC-8B54-6517263039E4}" presName="spaceRect" presStyleCnt="0"/>
      <dgm:spPr/>
    </dgm:pt>
    <dgm:pt modelId="{11508908-6748-470F-A051-E449518F897A}" type="pres">
      <dgm:prSet presAssocID="{10028266-7DA1-47EC-8B54-6517263039E4}" presName="parTx" presStyleLbl="revTx" presStyleIdx="2" presStyleCnt="3">
        <dgm:presLayoutVars>
          <dgm:chMax val="0"/>
          <dgm:chPref val="0"/>
        </dgm:presLayoutVars>
      </dgm:prSet>
      <dgm:spPr/>
    </dgm:pt>
  </dgm:ptLst>
  <dgm:cxnLst>
    <dgm:cxn modelId="{F3828839-B4B0-40A6-86C9-03D1E9D679E7}" srcId="{85FD697F-D5B4-4BC3-8E1C-1852767C496E}" destId="{A89B32E5-283A-4FB0-9EC1-FC763E40E1BC}" srcOrd="1" destOrd="0" parTransId="{FC97F4D0-3BFC-486E-BA03-57353BC8E80A}" sibTransId="{F7D45140-E4B4-40D3-96DB-641DA25243D7}"/>
    <dgm:cxn modelId="{C278D240-5721-4BA2-BB43-7D20E50B7A0D}" srcId="{85FD697F-D5B4-4BC3-8E1C-1852767C496E}" destId="{70532F2E-4AEB-4FD6-8C10-1835AE732C4C}" srcOrd="0" destOrd="0" parTransId="{B68F9100-BAC8-40A6-B75F-47DCBB3E6B50}" sibTransId="{F66A4D9D-A90E-4515-BF3E-7B04FB3C7030}"/>
    <dgm:cxn modelId="{432EE75A-AEFB-46FA-BC2C-CC0C1E6116F5}" type="presOf" srcId="{85FD697F-D5B4-4BC3-8E1C-1852767C496E}" destId="{48498948-55B7-4AE8-BD68-E842EDDA2CEC}" srcOrd="0" destOrd="0" presId="urn:microsoft.com/office/officeart/2018/2/layout/IconVerticalSolidList"/>
    <dgm:cxn modelId="{087D9596-F8BA-4631-A39B-1DB9EF83DA3A}" type="presOf" srcId="{70532F2E-4AEB-4FD6-8C10-1835AE732C4C}" destId="{E12A8486-AE2F-41BA-9F19-00AA41CF439F}" srcOrd="0" destOrd="0" presId="urn:microsoft.com/office/officeart/2018/2/layout/IconVerticalSolidList"/>
    <dgm:cxn modelId="{90D069AF-EAD7-4D86-9E94-D54678373088}" type="presOf" srcId="{A89B32E5-283A-4FB0-9EC1-FC763E40E1BC}" destId="{212D609C-97DE-4700-92F2-E3D4DF64A29B}" srcOrd="0" destOrd="0" presId="urn:microsoft.com/office/officeart/2018/2/layout/IconVerticalSolidList"/>
    <dgm:cxn modelId="{C4CFECBA-7703-4C4B-BA1F-6EE6809BF356}" type="presOf" srcId="{10028266-7DA1-47EC-8B54-6517263039E4}" destId="{11508908-6748-470F-A051-E449518F897A}" srcOrd="0" destOrd="0" presId="urn:microsoft.com/office/officeart/2018/2/layout/IconVerticalSolidList"/>
    <dgm:cxn modelId="{AC18C8E2-88CD-4A54-855F-71A7719F1E56}" srcId="{85FD697F-D5B4-4BC3-8E1C-1852767C496E}" destId="{10028266-7DA1-47EC-8B54-6517263039E4}" srcOrd="2" destOrd="0" parTransId="{1F9D942E-CF0D-4E0F-A7A0-DB6DF81F0EBE}" sibTransId="{A5FBAF57-03C2-4CFC-983F-69D071D80890}"/>
    <dgm:cxn modelId="{04CAB1FA-97C8-4E98-9255-CAF7125B1C05}" type="presParOf" srcId="{48498948-55B7-4AE8-BD68-E842EDDA2CEC}" destId="{16DF53B1-726A-419B-B118-61B96158CA7A}" srcOrd="0" destOrd="0" presId="urn:microsoft.com/office/officeart/2018/2/layout/IconVerticalSolidList"/>
    <dgm:cxn modelId="{69A2AC62-675E-4717-BDE8-F407D20EBC03}" type="presParOf" srcId="{16DF53B1-726A-419B-B118-61B96158CA7A}" destId="{57166F73-65EE-4F62-8F26-4EEBADF9E50D}" srcOrd="0" destOrd="0" presId="urn:microsoft.com/office/officeart/2018/2/layout/IconVerticalSolidList"/>
    <dgm:cxn modelId="{12E1EE3B-61F1-4858-9244-DD4499C9252A}" type="presParOf" srcId="{16DF53B1-726A-419B-B118-61B96158CA7A}" destId="{8671A60B-80B9-48D8-BA82-D488D7B88800}" srcOrd="1" destOrd="0" presId="urn:microsoft.com/office/officeart/2018/2/layout/IconVerticalSolidList"/>
    <dgm:cxn modelId="{34C0FD42-86FE-4396-BDED-1AA2B9634737}" type="presParOf" srcId="{16DF53B1-726A-419B-B118-61B96158CA7A}" destId="{E1F51443-B87C-4939-B721-DA45EE99EEEC}" srcOrd="2" destOrd="0" presId="urn:microsoft.com/office/officeart/2018/2/layout/IconVerticalSolidList"/>
    <dgm:cxn modelId="{DF909288-09B6-4208-ADD1-303F8770DBCA}" type="presParOf" srcId="{16DF53B1-726A-419B-B118-61B96158CA7A}" destId="{E12A8486-AE2F-41BA-9F19-00AA41CF439F}" srcOrd="3" destOrd="0" presId="urn:microsoft.com/office/officeart/2018/2/layout/IconVerticalSolidList"/>
    <dgm:cxn modelId="{F1A56FCF-7A42-404F-984A-31A0B01610D6}" type="presParOf" srcId="{48498948-55B7-4AE8-BD68-E842EDDA2CEC}" destId="{FC53F2B0-7DA4-442F-B5E4-C21118FA5683}" srcOrd="1" destOrd="0" presId="urn:microsoft.com/office/officeart/2018/2/layout/IconVerticalSolidList"/>
    <dgm:cxn modelId="{DD5BF314-17A7-4956-8679-3B905782C0AE}" type="presParOf" srcId="{48498948-55B7-4AE8-BD68-E842EDDA2CEC}" destId="{30D93B0D-743B-4DEC-A0CD-BEEC0344857D}" srcOrd="2" destOrd="0" presId="urn:microsoft.com/office/officeart/2018/2/layout/IconVerticalSolidList"/>
    <dgm:cxn modelId="{5F7BDA7C-B4D2-4A84-B47B-97E35F3FEEBF}" type="presParOf" srcId="{30D93B0D-743B-4DEC-A0CD-BEEC0344857D}" destId="{41341230-FCAD-43F0-9578-E19E68344C13}" srcOrd="0" destOrd="0" presId="urn:microsoft.com/office/officeart/2018/2/layout/IconVerticalSolidList"/>
    <dgm:cxn modelId="{FF6BDAD8-C62E-48DD-817E-AB26C0775C39}" type="presParOf" srcId="{30D93B0D-743B-4DEC-A0CD-BEEC0344857D}" destId="{A5BCFA53-C3CA-490E-9F38-E9540F333204}" srcOrd="1" destOrd="0" presId="urn:microsoft.com/office/officeart/2018/2/layout/IconVerticalSolidList"/>
    <dgm:cxn modelId="{5D65E7AB-9BE3-4E53-8566-3D58E3599FFD}" type="presParOf" srcId="{30D93B0D-743B-4DEC-A0CD-BEEC0344857D}" destId="{12D0EE6E-65D5-4DFD-AB91-AD68EFF145EE}" srcOrd="2" destOrd="0" presId="urn:microsoft.com/office/officeart/2018/2/layout/IconVerticalSolidList"/>
    <dgm:cxn modelId="{0A27F88C-BA09-4E3F-BD6D-325F315AE8D2}" type="presParOf" srcId="{30D93B0D-743B-4DEC-A0CD-BEEC0344857D}" destId="{212D609C-97DE-4700-92F2-E3D4DF64A29B}" srcOrd="3" destOrd="0" presId="urn:microsoft.com/office/officeart/2018/2/layout/IconVerticalSolidList"/>
    <dgm:cxn modelId="{458D4094-A500-4B4B-AF4B-59B699EB286E}" type="presParOf" srcId="{48498948-55B7-4AE8-BD68-E842EDDA2CEC}" destId="{B1EC1A5D-40C5-4BB6-815D-518EC3795156}" srcOrd="3" destOrd="0" presId="urn:microsoft.com/office/officeart/2018/2/layout/IconVerticalSolidList"/>
    <dgm:cxn modelId="{C59EAC2C-4C7C-4047-B359-1E79021F1A74}" type="presParOf" srcId="{48498948-55B7-4AE8-BD68-E842EDDA2CEC}" destId="{D021B0C3-B304-4171-957A-31463C9C1C62}" srcOrd="4" destOrd="0" presId="urn:microsoft.com/office/officeart/2018/2/layout/IconVerticalSolidList"/>
    <dgm:cxn modelId="{30BD9E2B-BD43-4FCC-A03E-153A0B4EBA1F}" type="presParOf" srcId="{D021B0C3-B304-4171-957A-31463C9C1C62}" destId="{A7903FF5-F369-44FB-BB74-C3095884EF50}" srcOrd="0" destOrd="0" presId="urn:microsoft.com/office/officeart/2018/2/layout/IconVerticalSolidList"/>
    <dgm:cxn modelId="{2A1AB7E7-8E0B-4FE9-9ABA-45ADFFD5A327}" type="presParOf" srcId="{D021B0C3-B304-4171-957A-31463C9C1C62}" destId="{906AF930-55BD-4799-BBB0-7E2F66761B12}" srcOrd="1" destOrd="0" presId="urn:microsoft.com/office/officeart/2018/2/layout/IconVerticalSolidList"/>
    <dgm:cxn modelId="{F9C3DB79-0738-4382-B024-E47E4BC364B1}" type="presParOf" srcId="{D021B0C3-B304-4171-957A-31463C9C1C62}" destId="{4C83B78B-AE0F-44FF-BD07-4697635E843E}" srcOrd="2" destOrd="0" presId="urn:microsoft.com/office/officeart/2018/2/layout/IconVerticalSolidList"/>
    <dgm:cxn modelId="{6E55BD87-D743-4BE5-B91E-0C930654CFBC}" type="presParOf" srcId="{D021B0C3-B304-4171-957A-31463C9C1C62}" destId="{11508908-6748-470F-A051-E449518F897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7166F73-65EE-4F62-8F26-4EEBADF9E50D}">
      <dsp:nvSpPr>
        <dsp:cNvPr id="0" name=""/>
        <dsp:cNvSpPr/>
      </dsp:nvSpPr>
      <dsp:spPr>
        <a:xfrm>
          <a:off x="0" y="0"/>
          <a:ext cx="9951720" cy="1152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71A60B-80B9-48D8-BA82-D488D7B88800}">
      <dsp:nvSpPr>
        <dsp:cNvPr id="0" name=""/>
        <dsp:cNvSpPr/>
      </dsp:nvSpPr>
      <dsp:spPr>
        <a:xfrm>
          <a:off x="348498" y="259706"/>
          <a:ext cx="633634" cy="6336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2A8486-AE2F-41BA-9F19-00AA41CF439F}">
      <dsp:nvSpPr>
        <dsp:cNvPr id="0" name=""/>
        <dsp:cNvSpPr/>
      </dsp:nvSpPr>
      <dsp:spPr>
        <a:xfrm>
          <a:off x="1330632" y="492"/>
          <a:ext cx="8621087" cy="1152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7" tIns="121927" rIns="121927" bIns="121927"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Aerial"/>
              <a:ea typeface="Cambria" panose="02040503050406030204" pitchFamily="18" charset="0"/>
            </a:rPr>
            <a:t>A video is generated or manipulated using Generative Adversarial Networks (GANs), producing hyper-realistic fake media.</a:t>
          </a:r>
        </a:p>
      </dsp:txBody>
      <dsp:txXfrm>
        <a:off x="1330632" y="492"/>
        <a:ext cx="8621087" cy="1152062"/>
      </dsp:txXfrm>
    </dsp:sp>
    <dsp:sp modelId="{41341230-FCAD-43F0-9578-E19E68344C13}">
      <dsp:nvSpPr>
        <dsp:cNvPr id="0" name=""/>
        <dsp:cNvSpPr/>
      </dsp:nvSpPr>
      <dsp:spPr>
        <a:xfrm>
          <a:off x="0" y="1440570"/>
          <a:ext cx="9951720" cy="1152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BCFA53-C3CA-490E-9F38-E9540F333204}">
      <dsp:nvSpPr>
        <dsp:cNvPr id="0" name=""/>
        <dsp:cNvSpPr/>
      </dsp:nvSpPr>
      <dsp:spPr>
        <a:xfrm>
          <a:off x="348498" y="1699784"/>
          <a:ext cx="633634" cy="6336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12D609C-97DE-4700-92F2-E3D4DF64A29B}">
      <dsp:nvSpPr>
        <dsp:cNvPr id="0" name=""/>
        <dsp:cNvSpPr/>
      </dsp:nvSpPr>
      <dsp:spPr>
        <a:xfrm>
          <a:off x="1330632" y="1440570"/>
          <a:ext cx="8621087" cy="1152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7" tIns="121927" rIns="121927" bIns="121927" numCol="1" spcCol="1270" anchor="ctr" anchorCtr="0">
          <a:noAutofit/>
        </a:bodyPr>
        <a:lstStyle/>
        <a:p>
          <a:pPr marL="0" lvl="0" indent="0" algn="l" defTabSz="889000">
            <a:lnSpc>
              <a:spcPct val="100000"/>
            </a:lnSpc>
            <a:spcBef>
              <a:spcPct val="0"/>
            </a:spcBef>
            <a:spcAft>
              <a:spcPct val="35000"/>
            </a:spcAft>
            <a:buNone/>
          </a:pPr>
          <a:r>
            <a:rPr lang="en-US" sz="2000" kern="1200" dirty="0">
              <a:latin typeface="Aerial"/>
              <a:ea typeface="Cambria" panose="02040503050406030204" pitchFamily="18" charset="0"/>
            </a:rPr>
            <a:t>Detection systems split the video into frames and analyze each one for spatial artifacts — unnatural textures, blending edges, or lighting mismatches.</a:t>
          </a:r>
        </a:p>
      </dsp:txBody>
      <dsp:txXfrm>
        <a:off x="1330632" y="1440570"/>
        <a:ext cx="8621087" cy="1152062"/>
      </dsp:txXfrm>
    </dsp:sp>
    <dsp:sp modelId="{A7903FF5-F369-44FB-BB74-C3095884EF50}">
      <dsp:nvSpPr>
        <dsp:cNvPr id="0" name=""/>
        <dsp:cNvSpPr/>
      </dsp:nvSpPr>
      <dsp:spPr>
        <a:xfrm>
          <a:off x="0" y="2880648"/>
          <a:ext cx="9951720" cy="115206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6AF930-55BD-4799-BBB0-7E2F66761B12}">
      <dsp:nvSpPr>
        <dsp:cNvPr id="0" name=""/>
        <dsp:cNvSpPr/>
      </dsp:nvSpPr>
      <dsp:spPr>
        <a:xfrm>
          <a:off x="348498" y="3139862"/>
          <a:ext cx="633634" cy="63363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508908-6748-470F-A051-E449518F897A}">
      <dsp:nvSpPr>
        <dsp:cNvPr id="0" name=""/>
        <dsp:cNvSpPr/>
      </dsp:nvSpPr>
      <dsp:spPr>
        <a:xfrm>
          <a:off x="1330632" y="2880648"/>
          <a:ext cx="8621087" cy="11520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7" tIns="121927" rIns="121927" bIns="121927" numCol="1" spcCol="1270" anchor="ctr" anchorCtr="0">
          <a:noAutofit/>
        </a:bodyPr>
        <a:lstStyle/>
        <a:p>
          <a:pPr marL="0" lvl="0" indent="0" algn="l" defTabSz="889000">
            <a:lnSpc>
              <a:spcPct val="100000"/>
            </a:lnSpc>
            <a:spcBef>
              <a:spcPct val="0"/>
            </a:spcBef>
            <a:spcAft>
              <a:spcPct val="35000"/>
            </a:spcAft>
            <a:buNone/>
          </a:pPr>
          <a:r>
            <a:rPr lang="en-IN" sz="2000" kern="1200" dirty="0">
              <a:latin typeface="Aerial"/>
              <a:ea typeface="Cambria" panose="02040503050406030204" pitchFamily="18" charset="0"/>
            </a:rPr>
            <a:t>Advanced detectors also study temporal inconsistencies across frames to catch motion and expression flaws that GANs struggle to keep consistent</a:t>
          </a:r>
          <a:r>
            <a:rPr lang="en-IN" sz="2000" kern="1200" dirty="0">
              <a:latin typeface="Aerial"/>
            </a:rPr>
            <a:t>. </a:t>
          </a:r>
          <a:endParaRPr lang="en-US" sz="2000" kern="1200" dirty="0">
            <a:latin typeface="Aerial"/>
          </a:endParaRPr>
        </a:p>
      </dsp:txBody>
      <dsp:txXfrm>
        <a:off x="1330632" y="2880648"/>
        <a:ext cx="8621087" cy="115206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9">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5E0E8C4-37DB-47FC-9842-9198B4D8D153}" type="datetimeFigureOut">
              <a:t>10/8/2026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94E53069-F636-4559-B13A-0BA417DF3892}" type="slidenum">
              <a:t>‹#›</a:t>
            </a:fld>
            <a:endParaRPr lang="en-US"/>
          </a:p>
        </p:txBody>
      </p:sp>
    </p:spTree>
    <p:extLst>
      <p:ext uri="{BB962C8B-B14F-4D97-AF65-F5344CB8AC3E}">
        <p14:creationId xmlns:p14="http://schemas.microsoft.com/office/powerpoint/2010/main" val="311350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dirty="0"/>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B61BEF0D-F0BB-DE4B-95CE-6DB70DBA9567}" type="datetimeFigureOut">
              <a:rPr lang="en-US" smtClean="0"/>
              <a:pPr/>
              <a:t>10/8/2026</a:t>
            </a:fld>
            <a:endParaRPr lang="en-US" dirty="0"/>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600512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48137674"/>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B61BEF0D-F0BB-DE4B-95CE-6DB70DBA9567}" type="datetimeFigureOut">
              <a:rPr lang="en-US" smtClean="0"/>
              <a:pPr/>
              <a:t>10/8/2026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1563822"/>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B61BEF0D-F0BB-DE4B-95CE-6DB70DBA9567}" type="datetimeFigureOut">
              <a:rPr lang="en-US" smtClean="0"/>
              <a:pPr/>
              <a:t>10/8/2026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72499876"/>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B61BEF0D-F0BB-DE4B-95CE-6DB70DBA9567}" type="datetimeFigureOut">
              <a:rPr lang="en-US" smtClean="0"/>
              <a:pPr/>
              <a:t>10/8/2026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77229412"/>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881178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B61BEF0D-F0BB-DE4B-95CE-6DB70DBA9567}" type="datetimeFigureOut">
              <a:rPr lang="en-US" smtClean="0"/>
              <a:pPr/>
              <a:t>10/8/2026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6530509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2676300"/>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5733399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dirty="0"/>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B61BEF0D-F0BB-DE4B-95CE-6DB70DBA9567}" type="datetimeFigureOut">
              <a:rPr lang="en-US" smtClean="0"/>
              <a:pPr/>
              <a:t>10/8/2026</a:t>
            </a:fld>
            <a:endParaRPr lang="en-US" dirty="0"/>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4183541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dirty="0"/>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B61BEF0D-F0BB-DE4B-95CE-6DB70DBA9567}" type="datetimeFigureOut">
              <a:rPr lang="en-US" smtClean="0"/>
              <a:pPr/>
              <a:t>10/8/2026</a:t>
            </a:fld>
            <a:endParaRPr lang="en-US" dirty="0"/>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35538001"/>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dirty="0"/>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B61BEF0D-F0BB-DE4B-95CE-6DB70DBA9567}" type="datetimeFigureOut">
              <a:rPr lang="en-US" smtClean="0"/>
              <a:pPr/>
              <a:t>10/8/2026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D57F1E4F-1CFF-5643-939E-217C01CDF565}"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1408022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B61BEF0D-F0BB-DE4B-95CE-6DB70DBA9567}" type="datetimeFigureOut">
              <a:rPr lang="en-US" smtClean="0"/>
              <a:pPr/>
              <a:t>10/8/2026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D57F1E4F-1CFF-5643-939E-217C01CDF565}"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39852312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dirty="0"/>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B61BEF0D-F0BB-DE4B-95CE-6DB70DBA9567}" type="datetimeFigureOut">
              <a:rPr lang="en-US" smtClean="0"/>
              <a:pPr/>
              <a:t>10/8/2026</a:t>
            </a:fld>
            <a:endParaRPr lang="en-US" dirty="0"/>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D57F1E4F-1CFF-5643-939E-217C01CDF565}"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695977079"/>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B61BEF0D-F0BB-DE4B-95CE-6DB70DBA9567}" type="datetimeFigureOut">
              <a:rPr lang="en-US" smtClean="0"/>
              <a:pPr/>
              <a:t>10/8/2026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0754672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0419173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dirty="0"/>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B61BEF0D-F0BB-DE4B-95CE-6DB70DBA9567}" type="datetimeFigureOut">
              <a:rPr lang="en-US" smtClean="0"/>
              <a:pPr/>
              <a:t>10/8/2026</a:t>
            </a:fld>
            <a:endParaRPr lang="en-US" dirty="0"/>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4772005"/>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36981137"/>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B61BEF0D-F0BB-DE4B-95CE-6DB70DBA9567}" type="datetimeFigureOut">
              <a:rPr lang="en-US" smtClean="0"/>
              <a:pPr/>
              <a:t>10/8/2026</a:t>
            </a:fld>
            <a:endParaRPr lang="en-US" dirty="0"/>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06944535"/>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892669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55863615"/>
      </p:ext>
    </p:extLst>
  </p:cSld>
  <p:clrMapOvr>
    <a:masterClrMapping/>
  </p:clrMapOvr>
  <p:hf sldNum="0" hdr="0" ft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07078790"/>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63170829"/>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03418873"/>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505385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2279889"/>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61BEF0D-F0BB-DE4B-95CE-6DB70DBA9567}" type="datetimeFigureOut">
              <a:rPr lang="en-US" smtClean="0"/>
              <a:pPr/>
              <a:t>10/8/2026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529807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50807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B61BEF0D-F0BB-DE4B-95CE-6DB70DBA9567}" type="datetimeFigureOut">
              <a:rPr lang="en-US" smtClean="0"/>
              <a:pPr/>
              <a:t>10/8/2026</a:t>
            </a:fld>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52826835"/>
      </p:ext>
    </p:extLst>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 id="2147483753" r:id="rId14"/>
    <p:sldLayoutId id="2147483754" r:id="rId15"/>
    <p:sldLayoutId id="2147483755" r:id="rId16"/>
    <p:sldLayoutId id="2147483756" r:id="rId17"/>
    <p:sldLayoutId id="2147483757" r:id="rId18"/>
    <p:sldLayoutId id="2147483758" r:id="rId19"/>
    <p:sldLayoutId id="2147483759" r:id="rId20"/>
    <p:sldLayoutId id="2147483760" r:id="rId21"/>
    <p:sldLayoutId id="2147483761" r:id="rId22"/>
    <p:sldLayoutId id="2147483762" r:id="rId23"/>
    <p:sldLayoutId id="2147483763" r:id="rId24"/>
    <p:sldLayoutId id="2147483764" r:id="rId25"/>
    <p:sldLayoutId id="2147483765" r:id="rId26"/>
    <p:sldLayoutId id="2147483766" r:id="rId27"/>
    <p:sldLayoutId id="2147483767" r:id="rId28"/>
  </p:sldLayoutIdLst>
  <p:hf sldNum="0" hdr="0" ftr="0" dt="0"/>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xml"/><Relationship Id="rId3" Type="http://schemas.openxmlformats.org/officeDocument/2006/relationships/diagramData" Target="../diagrams/data1.xml"/><Relationship Id="rId4" Type="http://schemas.openxmlformats.org/officeDocument/2006/relationships/diagramLayout" Target="../diagrams/layout1.xml"/><Relationship Id="rId5" Type="http://schemas.openxmlformats.org/officeDocument/2006/relationships/diagramQuickStyle" Target="../diagrams/quickStyle1.xml"/><Relationship Id="rId6" Type="http://schemas.openxmlformats.org/officeDocument/2006/relationships/diagramColors" Target="../diagrams/colors1.xml"/><Relationship Id="rId7" Type="http://schemas.microsoft.com/office/2007/relationships/diagramDrawing" Target="../diagrams/drawing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914400" y="1005840"/>
            <a:ext cx="10360152" cy="1463040"/>
          </a:xfrm>
          <a:prstGeom prst="rect">
            <a:avLst/>
          </a:prstGeom>
          <a:noFill/>
          <a:ln/>
        </p:spPr>
        <p:txBody>
          <a:bodyPr wrap="square" lIns="0" tIns="0" rIns="0" bIns="0" rtlCol="0" anchor="ctr"/>
          <a:lstStyle/>
          <a:p>
            <a:pPr marL="0" indent="0" algn="ctr">
              <a:buNone/>
            </a:pPr>
            <a:r>
              <a:rPr lang="en-US" sz="3600" b="1" dirty="0">
                <a:solidFill>
                  <a:srgbClr val="1B2A4A"/>
                </a:solidFill>
                <a:latin typeface="Cambria" pitchFamily="34" charset="0"/>
                <a:ea typeface="Cambria" pitchFamily="34" charset="-122"/>
                <a:cs typeface="Cambria" pitchFamily="34" charset="-120"/>
              </a:rPr>
              <a:t>COLLEGE OF ENGINEERING</a:t>
            </a:r>
            <a:endParaRPr lang="en-US" sz="3600" dirty="0"/>
          </a:p>
          <a:p>
            <a:pPr marL="0" indent="0" algn="ctr">
              <a:buNone/>
            </a:pPr>
            <a:r>
              <a:rPr lang="en-US" sz="3600" b="1" dirty="0">
                <a:solidFill>
                  <a:srgbClr val="1B2A4A"/>
                </a:solidFill>
                <a:latin typeface="Cambria" pitchFamily="34" charset="0"/>
                <a:ea typeface="Cambria" pitchFamily="34" charset="-122"/>
                <a:cs typeface="Cambria" pitchFamily="34" charset="-120"/>
              </a:rPr>
              <a:t>CHENGANNUR</a:t>
            </a:r>
            <a:endParaRPr lang="en-US" sz="3600" dirty="0"/>
          </a:p>
        </p:txBody>
      </p:sp>
      <p:sp>
        <p:nvSpPr>
          <p:cNvPr id="6" name="Text 4"/>
          <p:cNvSpPr txBox="1"/>
          <p:nvPr/>
        </p:nvSpPr>
        <p:spPr>
          <a:xfrm>
            <a:off x="914400" y="4709160"/>
            <a:ext cx="10360152" cy="457200"/>
          </a:xfrm>
          <a:prstGeom prst="rect">
            <a:avLst/>
          </a:prstGeom>
          <a:noFill/>
          <a:ln/>
        </p:spPr>
        <p:txBody>
          <a:bodyPr wrap="square" lIns="0" tIns="0" rIns="0" bIns="0" rtlCol="0" anchor="ctr"/>
          <a:lstStyle/>
          <a:p>
            <a:pPr marL="0" indent="0" algn="ctr">
              <a:buNone/>
            </a:pPr>
            <a:r>
              <a:rPr lang="en-US" sz="1700" b="1" dirty="0">
                <a:solidFill>
                  <a:srgbClr val="1B2A4A"/>
                </a:solidFill>
                <a:latin typeface="Cambria" pitchFamily="34" charset="0"/>
                <a:ea typeface="Cambria" pitchFamily="34" charset="-122"/>
                <a:cs typeface="Cambria" pitchFamily="34" charset="-120"/>
              </a:rPr>
              <a:t>DEPARTMENT OF COMPUTER ENGINEERING</a:t>
            </a:r>
            <a:endParaRPr lang="en-US" sz="1700" dirty="0"/>
          </a:p>
        </p:txBody>
      </p:sp>
      <p:pic>
        <p:nvPicPr>
          <p:cNvPr id="7" name="Picture 6" descr="1789577448670_image.png"/>
          <p:cNvPicPr>
            <a:picLocks noChangeAspect="1"/>
          </p:cNvPicPr>
          <p:nvPr/>
        </p:nvPicPr>
        <p:blipFill>
          <a:blip r:embed="rId2"/>
          <a:stretch>
            <a:fillRect/>
          </a:stretch>
        </p:blipFill>
        <p:spPr>
          <a:xfrm>
            <a:off x="5271516" y="2606040"/>
            <a:ext cx="1645920" cy="1645920"/>
          </a:xfrm>
          <a:prstGeom prst="rect">
            <a:avLst/>
          </a:prstGeom>
        </p:spPr>
      </p:pic>
      <p:sp>
        <p:nvSpPr>
          <p:cNvPr id="3" name="TextBox 2">
            <a:extLst>
              <a:ext uri="{FF2B5EF4-FFF2-40B4-BE49-F238E27FC236}">
                <a16:creationId xmlns:a16="http://schemas.microsoft.com/office/drawing/2014/main" id="{7F8A9168-194F-33DB-0D16-331A1F77DD38}"/>
              </a:ext>
            </a:extLst>
          </p:cNvPr>
          <p:cNvSpPr txBox="1"/>
          <p:nvPr/>
        </p:nvSpPr>
        <p:spPr>
          <a:xfrm>
            <a:off x="10468947" y="74645"/>
            <a:ext cx="184731" cy="369332"/>
          </a:xfrm>
          <a:prstGeom prst="rect">
            <a:avLst/>
          </a:prstGeom>
          <a:noFill/>
        </p:spPr>
        <p:txBody>
          <a:bodyPr wrap="none" rtlCol="0">
            <a:spAutoFit/>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Text 0">
            <a:extLst>
              <a:ext uri="{FF2B5EF4-FFF2-40B4-BE49-F238E27FC236}">
                <a16:creationId xmlns:a16="http://schemas.microsoft.com/office/drawing/2014/main" id="{C8356E0F-0512-9F0C-C729-3C3EDF57A44E}"/>
              </a:ext>
            </a:extLst>
          </p:cNvPr>
          <p:cNvSpPr txBox="1"/>
          <p:nvPr/>
        </p:nvSpPr>
        <p:spPr>
          <a:xfrm>
            <a:off x="914400" y="1371600"/>
            <a:ext cx="10360152" cy="1371600"/>
          </a:xfrm>
          <a:prstGeom prst="rect">
            <a:avLst/>
          </a:prstGeom>
          <a:noFill/>
          <a:ln/>
        </p:spPr>
        <p:txBody>
          <a:bodyPr wrap="square" lIns="0" tIns="0" rIns="0" bIns="0" rtlCol="0" anchor="ctr"/>
          <a:lstStyle/>
          <a:p>
            <a:pPr marL="0" indent="0" algn="ctr">
              <a:buNone/>
            </a:pPr>
            <a:r>
              <a:rPr lang="en-US" sz="3800" b="1" dirty="0">
                <a:solidFill>
                  <a:srgbClr val="1B2A4A"/>
                </a:solidFill>
                <a:latin typeface="Cambria" pitchFamily="34" charset="0"/>
                <a:ea typeface="Cambria" pitchFamily="34" charset="-122"/>
                <a:cs typeface="Cambria" pitchFamily="34" charset="-120"/>
              </a:rPr>
              <a:t>SEMINAR</a:t>
            </a:r>
            <a:endParaRPr lang="en-US" sz="3800" dirty="0"/>
          </a:p>
          <a:p>
            <a:pPr marL="0" indent="0" algn="ctr">
              <a:buNone/>
            </a:pPr>
            <a:r>
              <a:rPr lang="en-US" sz="3800" b="1" dirty="0">
                <a:solidFill>
                  <a:srgbClr val="1B2A4A"/>
                </a:solidFill>
                <a:latin typeface="Cambria" pitchFamily="34" charset="0"/>
                <a:ea typeface="Cambria" pitchFamily="34" charset="-122"/>
                <a:cs typeface="Cambria" pitchFamily="34" charset="-120"/>
              </a:rPr>
              <a:t>PRESENTATION</a:t>
            </a:r>
            <a:endParaRPr lang="en-US" sz="3800" dirty="0"/>
          </a:p>
        </p:txBody>
      </p:sp>
      <p:sp>
        <p:nvSpPr>
          <p:cNvPr id="26" name="Shape 1">
            <a:extLst>
              <a:ext uri="{FF2B5EF4-FFF2-40B4-BE49-F238E27FC236}">
                <a16:creationId xmlns:a16="http://schemas.microsoft.com/office/drawing/2014/main" id="{04C5A335-8DF3-41B0-4C65-98838E37FFC2}"/>
              </a:ext>
            </a:extLst>
          </p:cNvPr>
          <p:cNvSpPr/>
          <p:nvPr/>
        </p:nvSpPr>
        <p:spPr>
          <a:xfrm>
            <a:off x="5088636" y="2788920"/>
            <a:ext cx="2011680" cy="41148"/>
          </a:xfrm>
          <a:prstGeom prst="rect">
            <a:avLst/>
          </a:prstGeom>
          <a:solidFill>
            <a:srgbClr val="1F9C8B"/>
          </a:solidFill>
          <a:ln/>
        </p:spPr>
        <p:txBody>
          <a:bodyPr/>
          <a:lstStyle/>
          <a:p>
            <a:endParaRPr lang="en-IN"/>
          </a:p>
        </p:txBody>
      </p:sp>
      <p:sp>
        <p:nvSpPr>
          <p:cNvPr id="28" name="Text 2">
            <a:extLst>
              <a:ext uri="{FF2B5EF4-FFF2-40B4-BE49-F238E27FC236}">
                <a16:creationId xmlns:a16="http://schemas.microsoft.com/office/drawing/2014/main" id="{931ACF4C-5305-36CA-682B-4CD0DE94918F}"/>
              </a:ext>
            </a:extLst>
          </p:cNvPr>
          <p:cNvSpPr txBox="1"/>
          <p:nvPr/>
        </p:nvSpPr>
        <p:spPr>
          <a:xfrm>
            <a:off x="634483" y="4663440"/>
            <a:ext cx="5906276" cy="1645920"/>
          </a:xfrm>
          <a:prstGeom prst="rect">
            <a:avLst/>
          </a:prstGeom>
          <a:noFill/>
          <a:ln/>
        </p:spPr>
        <p:txBody>
          <a:bodyPr wrap="square" lIns="0" tIns="0" rIns="0" bIns="0" rtlCol="0" anchor="t"/>
          <a:lstStyle/>
          <a:p>
            <a:pPr marL="0" indent="0">
              <a:spcAft>
                <a:spcPts val="1000"/>
              </a:spcAft>
              <a:buNone/>
            </a:pPr>
            <a:r>
              <a:rPr lang="en-US" sz="2000" b="1" dirty="0">
                <a:solidFill>
                  <a:srgbClr val="1B2A4A"/>
                </a:solidFill>
                <a:latin typeface="Cambria" pitchFamily="34" charset="0"/>
                <a:ea typeface="Cambria" pitchFamily="34" charset="-122"/>
                <a:cs typeface="Cambria" pitchFamily="34" charset="-120"/>
              </a:rPr>
              <a:t>GUIDE:</a:t>
            </a:r>
            <a:endParaRPr lang="en-US" sz="2000" dirty="0"/>
          </a:p>
          <a:p>
            <a:pPr marL="0" indent="0">
              <a:spcAft>
                <a:spcPts val="400"/>
              </a:spcAft>
              <a:buNone/>
            </a:pPr>
            <a:r>
              <a:rPr lang="en-US" sz="2000" dirty="0">
                <a:solidFill>
                  <a:srgbClr val="3F3F3F"/>
                </a:solidFill>
                <a:latin typeface="Calibri"/>
                <a:ea typeface="Calibri"/>
                <a:cs typeface="Calibri"/>
              </a:rPr>
              <a:t>Alka Vijay</a:t>
            </a:r>
            <a:endParaRPr lang="en-US" sz="2000" dirty="0">
              <a:latin typeface="Calibri"/>
              <a:ea typeface="Calibri"/>
              <a:cs typeface="Calibri"/>
            </a:endParaRPr>
          </a:p>
          <a:p>
            <a:pPr marL="0" indent="0">
              <a:spcAft>
                <a:spcPts val="400"/>
              </a:spcAft>
              <a:buNone/>
            </a:pPr>
            <a:r>
              <a:rPr lang="en-US" sz="2000" dirty="0">
                <a:solidFill>
                  <a:srgbClr val="3F3F3F"/>
                </a:solidFill>
                <a:latin typeface="Calibri" pitchFamily="34" charset="0"/>
                <a:ea typeface="Calibri" pitchFamily="34" charset="-122"/>
                <a:cs typeface="Calibri" pitchFamily="34" charset="-120"/>
              </a:rPr>
              <a:t>Assistant Professor</a:t>
            </a:r>
            <a:endParaRPr lang="en-US" sz="2000" dirty="0"/>
          </a:p>
          <a:p>
            <a:pPr marL="0" indent="0">
              <a:buNone/>
            </a:pPr>
            <a:r>
              <a:rPr lang="en-US" sz="2000" dirty="0">
                <a:solidFill>
                  <a:srgbClr val="3F3F3F"/>
                </a:solidFill>
                <a:latin typeface="Calibri" pitchFamily="34" charset="0"/>
                <a:ea typeface="Calibri" pitchFamily="34" charset="-122"/>
                <a:cs typeface="Calibri" pitchFamily="34" charset="-120"/>
              </a:rPr>
              <a:t>Department of Computer Science &amp; Engineering</a:t>
            </a:r>
            <a:endParaRPr lang="en-US" sz="2000" dirty="0"/>
          </a:p>
        </p:txBody>
      </p:sp>
      <p:sp>
        <p:nvSpPr>
          <p:cNvPr id="30" name="Text 3">
            <a:extLst>
              <a:ext uri="{FF2B5EF4-FFF2-40B4-BE49-F238E27FC236}">
                <a16:creationId xmlns:a16="http://schemas.microsoft.com/office/drawing/2014/main" id="{7386AFE6-F8E7-C9EB-6A1B-E7E9EB3594A7}"/>
              </a:ext>
            </a:extLst>
          </p:cNvPr>
          <p:cNvSpPr txBox="1"/>
          <p:nvPr/>
        </p:nvSpPr>
        <p:spPr>
          <a:xfrm>
            <a:off x="8885648" y="4663440"/>
            <a:ext cx="4023360" cy="984504"/>
          </a:xfrm>
          <a:prstGeom prst="rect">
            <a:avLst/>
          </a:prstGeom>
          <a:noFill/>
          <a:ln/>
        </p:spPr>
        <p:txBody>
          <a:bodyPr wrap="square" lIns="0" tIns="0" rIns="0" bIns="0" rtlCol="0" anchor="t"/>
          <a:lstStyle/>
          <a:p>
            <a:pPr marL="0" indent="0">
              <a:spcAft>
                <a:spcPts val="1000"/>
              </a:spcAft>
              <a:buNone/>
            </a:pPr>
            <a:r>
              <a:rPr lang="en-US" sz="2000" b="1" dirty="0">
                <a:solidFill>
                  <a:srgbClr val="1B2A4A"/>
                </a:solidFill>
                <a:latin typeface="Cambria" pitchFamily="34" charset="0"/>
                <a:ea typeface="Cambria" pitchFamily="34" charset="-122"/>
                <a:cs typeface="Cambria" pitchFamily="34" charset="-120"/>
              </a:rPr>
              <a:t>PRESENTED BY:</a:t>
            </a:r>
            <a:endParaRPr lang="en-US" sz="2000" dirty="0"/>
          </a:p>
          <a:p>
            <a:pPr marL="0" indent="0">
              <a:spcAft>
                <a:spcPts val="400"/>
              </a:spcAft>
              <a:buNone/>
            </a:pPr>
            <a:r>
              <a:rPr lang="en-US" sz="2000" dirty="0">
                <a:solidFill>
                  <a:srgbClr val="3F3F3F"/>
                </a:solidFill>
                <a:latin typeface="Calibri" pitchFamily="34" charset="0"/>
                <a:ea typeface="Calibri" pitchFamily="34" charset="-122"/>
                <a:cs typeface="Calibri" pitchFamily="34" charset="-120"/>
              </a:rPr>
              <a:t>Jia Chinnu Abraham</a:t>
            </a:r>
            <a:endParaRPr lang="en-US" sz="2000" dirty="0"/>
          </a:p>
          <a:p>
            <a:pPr marL="0" indent="0">
              <a:buNone/>
            </a:pPr>
            <a:r>
              <a:rPr lang="en-US" sz="2000" dirty="0">
                <a:solidFill>
                  <a:srgbClr val="3F3F3F"/>
                </a:solidFill>
                <a:latin typeface="Calibri" pitchFamily="34" charset="0"/>
                <a:ea typeface="Calibri" pitchFamily="34" charset="-122"/>
                <a:cs typeface="Calibri" pitchFamily="34" charset="-120"/>
              </a:rPr>
              <a:t>CHN23CS101</a:t>
            </a:r>
          </a:p>
          <a:p>
            <a:pPr marL="0" indent="0">
              <a:buNone/>
            </a:pPr>
            <a:r>
              <a:rPr lang="en-US" sz="2000" dirty="0">
                <a:solidFill>
                  <a:srgbClr val="3F3F3F"/>
                </a:solidFill>
                <a:latin typeface="Calibri" pitchFamily="34" charset="0"/>
                <a:ea typeface="Calibri" pitchFamily="34" charset="-122"/>
                <a:cs typeface="Calibri" pitchFamily="34" charset="-120"/>
              </a:rPr>
              <a:t>Roll No:35</a:t>
            </a:r>
            <a:endParaRPr lang="en-US" sz="2000" dirty="0"/>
          </a:p>
        </p:txBody>
      </p:sp>
      <p:sp>
        <p:nvSpPr>
          <p:cNvPr id="31" name="Slide Number 31"/>
          <p:cNvSpPr txBox="1"/>
          <p:nvPr/>
        </p:nvSpPr>
        <p:spPr>
          <a:xfrm>
            <a:off x="11150000" y="6430000"/>
            <a:ext cx="700000" cy="280000"/>
          </a:xfrm>
          <a:prstGeom prst="rect">
            <a:avLst/>
          </a:prstGeom>
          <a:noFill/>
        </p:spPr>
        <p:txBody>
          <a:bodyPr wrap="none" lIns="0" tIns="0" rIns="0" bIns="0" anchor="ctr"/>
          <a:lstStyle/>
          <a:p>
            <a:pPr algn="r"/>
            <a:fld id="{B6F15528-21DE-4FAA-801E-634DDDAF4B2B}" type="slidenum">
              <a:rPr lang="en-US" sz="1200" b="1">
                <a:solidFill>
                  <a:srgbClr val="595959"/>
                </a:solidFill>
              </a:rPr>
              <a:t>2</a:t>
            </a:fld>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822960" y="2011680"/>
            <a:ext cx="10543032" cy="1828800"/>
          </a:xfrm>
          <a:prstGeom prst="rect">
            <a:avLst/>
          </a:prstGeom>
          <a:noFill/>
          <a:ln/>
        </p:spPr>
        <p:txBody>
          <a:bodyPr wrap="square" lIns="0" tIns="0" rIns="0" bIns="0" rtlCol="0" anchor="ctr"/>
          <a:lstStyle/>
          <a:p>
            <a:pPr marL="0" indent="0" algn="ctr">
              <a:buNone/>
            </a:pPr>
            <a:r>
              <a:rPr lang="en-US" sz="3000" b="1" dirty="0">
                <a:solidFill>
                  <a:srgbClr val="1B2A4A"/>
                </a:solidFill>
                <a:latin typeface="Cambria" pitchFamily="34" charset="0"/>
                <a:ea typeface="Cambria" pitchFamily="34" charset="-122"/>
                <a:cs typeface="Cambria" pitchFamily="34" charset="-120"/>
              </a:rPr>
              <a:t>A Hybrid Deep Learning Framework for Deepfake Detection Using Temporal and Spatial Features</a:t>
            </a:r>
            <a:endParaRPr lang="en-US" sz="3000" dirty="0"/>
          </a:p>
        </p:txBody>
      </p:sp>
      <p:sp>
        <p:nvSpPr>
          <p:cNvPr id="3" name="Shape 1"/>
          <p:cNvSpPr/>
          <p:nvPr/>
        </p:nvSpPr>
        <p:spPr>
          <a:xfrm>
            <a:off x="5088636" y="3977640"/>
            <a:ext cx="2011680" cy="41148"/>
          </a:xfrm>
          <a:prstGeom prst="rect">
            <a:avLst/>
          </a:prstGeom>
          <a:solidFill>
            <a:srgbClr val="1F9C8B"/>
          </a:solidFill>
          <a:ln/>
        </p:spPr>
        <p:txBody>
          <a:bodyPr/>
          <a:lstStyle/>
          <a:p>
            <a:endParaRPr lang="en-IN"/>
          </a:p>
        </p:txBody>
      </p:sp>
      <p:sp>
        <p:nvSpPr>
          <p:cNvPr id="4" name="Text 2"/>
          <p:cNvSpPr txBox="1"/>
          <p:nvPr/>
        </p:nvSpPr>
        <p:spPr>
          <a:xfrm>
            <a:off x="1097280" y="4251960"/>
            <a:ext cx="9994392" cy="731520"/>
          </a:xfrm>
          <a:prstGeom prst="rect">
            <a:avLst/>
          </a:prstGeom>
          <a:noFill/>
          <a:ln/>
        </p:spPr>
        <p:txBody>
          <a:bodyPr wrap="square" lIns="0" tIns="0" rIns="0" bIns="0" rtlCol="0" anchor="ctr"/>
          <a:lstStyle/>
          <a:p>
            <a:pPr marL="0" indent="0" algn="ctr">
              <a:buNone/>
            </a:pPr>
            <a:r>
              <a:rPr lang="en-US" sz="1400" dirty="0">
                <a:solidFill>
                  <a:srgbClr val="6B6B6B"/>
                </a:solidFill>
                <a:latin typeface="Calibri" pitchFamily="34" charset="0"/>
                <a:ea typeface="Calibri" pitchFamily="34" charset="-122"/>
                <a:cs typeface="Calibri" pitchFamily="34" charset="-120"/>
              </a:rPr>
              <a:t>Fazeel Zafar, Talha Ahmed Khan, Salas Akbar, Muhammad Talha Ubaid,</a:t>
            </a:r>
            <a:endParaRPr lang="en-US" sz="1400" dirty="0"/>
          </a:p>
          <a:p>
            <a:pPr marL="0" indent="0" algn="ctr">
              <a:buNone/>
            </a:pPr>
            <a:r>
              <a:rPr lang="en-US" sz="1400" dirty="0">
                <a:solidFill>
                  <a:srgbClr val="6B6B6B"/>
                </a:solidFill>
                <a:latin typeface="Calibri" pitchFamily="34" charset="0"/>
                <a:ea typeface="Calibri" pitchFamily="34" charset="-122"/>
                <a:cs typeface="Calibri" pitchFamily="34" charset="-120"/>
              </a:rPr>
              <a:t>Sameena Javaid, and Kushsairy Abdul Kadir, Senior Member, IEEE</a:t>
            </a:r>
            <a:endParaRPr lang="en-US" sz="1400" dirty="0"/>
          </a:p>
        </p:txBody>
      </p:sp>
      <p:sp>
        <p:nvSpPr>
          <p:cNvPr id="5" name="Text 3"/>
          <p:cNvSpPr txBox="1"/>
          <p:nvPr/>
        </p:nvSpPr>
        <p:spPr>
          <a:xfrm>
            <a:off x="1097280" y="5029200"/>
            <a:ext cx="9994392" cy="365760"/>
          </a:xfrm>
          <a:prstGeom prst="rect">
            <a:avLst/>
          </a:prstGeom>
          <a:noFill/>
          <a:ln/>
        </p:spPr>
        <p:txBody>
          <a:bodyPr wrap="square" lIns="0" tIns="0" rIns="0" bIns="0" rtlCol="0" anchor="ctr"/>
          <a:lstStyle/>
          <a:p>
            <a:pPr marL="0" indent="0" algn="ctr">
              <a:buNone/>
            </a:pPr>
            <a:r>
              <a:rPr lang="en-US" sz="1200" i="1" dirty="0">
                <a:solidFill>
                  <a:srgbClr val="6B6B6B"/>
                </a:solidFill>
                <a:latin typeface="Calibri" pitchFamily="34" charset="0"/>
                <a:ea typeface="Calibri" pitchFamily="34" charset="-122"/>
                <a:cs typeface="Calibri" pitchFamily="34" charset="-120"/>
              </a:rPr>
              <a:t>IEEE Access, vol. 13, 2025  •  DOI: 10.1109/ACCESS.2025.3566008</a:t>
            </a:r>
            <a:endParaRPr lang="en-US" sz="1200" dirty="0"/>
          </a:p>
        </p:txBody>
      </p:sp>
      <p:sp>
        <p:nvSpPr>
          <p:cNvPr id="6" name="Slide Number 6"/>
          <p:cNvSpPr txBox="1"/>
          <p:nvPr/>
        </p:nvSpPr>
        <p:spPr>
          <a:xfrm>
            <a:off x="11150000" y="6430000"/>
            <a:ext cx="700000" cy="280000"/>
          </a:xfrm>
          <a:prstGeom prst="rect">
            <a:avLst/>
          </a:prstGeom>
          <a:noFill/>
        </p:spPr>
        <p:txBody>
          <a:bodyPr wrap="none" lIns="0" tIns="0" rIns="0" bIns="0" anchor="ctr"/>
          <a:lstStyle/>
          <a:p>
            <a:pPr algn="r"/>
            <a:fld id="{B6F15528-21DE-4FAA-801E-634DDDAF4B2B}" type="slidenum">
              <a:rPr lang="en-US" sz="1200" b="1">
                <a:solidFill>
                  <a:srgbClr val="595959"/>
                </a:solidFill>
              </a:rPr>
              <a:t>3</a:t>
            </a:fld>
            <a:endParaRPr lang="en-US" sz="12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Text 0">
            <a:extLst>
              <a:ext uri="{FF2B5EF4-FFF2-40B4-BE49-F238E27FC236}">
                <a16:creationId xmlns:a16="http://schemas.microsoft.com/office/drawing/2014/main" id="{5ED569BA-7B23-0C95-F03E-C6609A8BB65F}"/>
              </a:ext>
            </a:extLst>
          </p:cNvPr>
          <p:cNvSpPr txBox="1"/>
          <p:nvPr/>
        </p:nvSpPr>
        <p:spPr>
          <a:xfrm>
            <a:off x="838200" y="365125"/>
            <a:ext cx="10515600" cy="1325563"/>
          </a:xfrm>
          <a:prstGeom prst="rect">
            <a:avLst/>
          </a:prstGeom>
        </p:spPr>
        <p:txBody>
          <a:bodyPr vert="horz" lIns="91440" tIns="45720" rIns="91440" bIns="45720" rtlCol="0" anchor="ctr">
            <a:normAutofit/>
          </a:bodyPr>
          <a:lstStyle/>
          <a:p>
            <a:pPr marL="0" indent="0">
              <a:lnSpc>
                <a:spcPct val="90000"/>
              </a:lnSpc>
              <a:spcBef>
                <a:spcPct val="0"/>
              </a:spcBef>
              <a:spcAft>
                <a:spcPts val="600"/>
              </a:spcAft>
            </a:pPr>
            <a:r>
              <a:rPr lang="en-US" sz="3000" b="1" dirty="0">
                <a:latin typeface="Cambria" panose="02040503050406030204" pitchFamily="18" charset="0"/>
                <a:ea typeface="Cambria" panose="02040503050406030204" pitchFamily="18" charset="0"/>
                <a:cs typeface="+mj-cs"/>
              </a:rPr>
              <a:t>How is Deepfake Detection Done Generally ?</a:t>
            </a:r>
            <a:endParaRPr lang="en-US" sz="3000" dirty="0">
              <a:latin typeface="Cambria" panose="02040503050406030204" pitchFamily="18" charset="0"/>
              <a:ea typeface="Cambria" panose="02040503050406030204" pitchFamily="18" charset="0"/>
              <a:cs typeface="+mj-cs"/>
            </a:endParaRPr>
          </a:p>
        </p:txBody>
      </p:sp>
      <p:graphicFrame>
        <p:nvGraphicFramePr>
          <p:cNvPr id="28" name="Text 1">
            <a:extLst>
              <a:ext uri="{FF2B5EF4-FFF2-40B4-BE49-F238E27FC236}">
                <a16:creationId xmlns:a16="http://schemas.microsoft.com/office/drawing/2014/main" id="{6EC9AB40-FF4D-CD59-C21D-BB122D1C64AA}"/>
              </a:ext>
            </a:extLst>
          </p:cNvPr>
          <p:cNvGraphicFramePr/>
          <p:nvPr>
            <p:extLst>
              <p:ext uri="{D42A27DB-BD31-4B8C-83A1-F6EECF244321}">
                <p14:modId xmlns:p14="http://schemas.microsoft.com/office/powerpoint/2010/main" val="2596085089"/>
              </p:ext>
            </p:extLst>
          </p:nvPr>
        </p:nvGraphicFramePr>
        <p:xfrm>
          <a:off x="850018" y="1690688"/>
          <a:ext cx="9951720" cy="40332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9" name="Slide Number 29"/>
          <p:cNvSpPr txBox="1"/>
          <p:nvPr/>
        </p:nvSpPr>
        <p:spPr>
          <a:xfrm>
            <a:off x="11150000" y="6430000"/>
            <a:ext cx="700000" cy="280000"/>
          </a:xfrm>
          <a:prstGeom prst="rect">
            <a:avLst/>
          </a:prstGeom>
          <a:noFill/>
        </p:spPr>
        <p:txBody>
          <a:bodyPr wrap="none" lIns="0" tIns="0" rIns="0" bIns="0" anchor="ctr"/>
          <a:lstStyle/>
          <a:p>
            <a:pPr algn="r"/>
            <a:fld id="{B6F15528-21DE-4FAA-801E-634DDDAF4B2B}" type="slidenum">
              <a:rPr lang="en-US" sz="1200" b="1">
                <a:solidFill>
                  <a:srgbClr val="595959"/>
                </a:solidFill>
              </a:rPr>
              <a:t>4</a:t>
            </a:fld>
            <a:endParaRPr lang="en-US" sz="12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3657600" cy="731520"/>
          </a:xfrm>
          <a:prstGeom prst="rect">
            <a:avLst/>
          </a:prstGeom>
          <a:noFill/>
          <a:ln/>
        </p:spPr>
        <p:txBody>
          <a:bodyPr wrap="square" rtlCol="0" anchor="ctr"/>
          <a:lstStyle/>
          <a:p>
            <a:pPr marL="0" indent="0" algn="l">
              <a:buNone/>
            </a:pPr>
            <a:r>
              <a:rPr lang="en-US" sz="3000" b="1" u="sng" dirty="0">
                <a:solidFill>
                  <a:srgbClr val="1A1A1A"/>
                </a:solidFill>
                <a:latin typeface="Times New Roman" pitchFamily="34" charset="0"/>
                <a:ea typeface="Times New Roman" pitchFamily="34" charset="-122"/>
                <a:cs typeface="Times New Roman" pitchFamily="34" charset="-120"/>
              </a:rPr>
              <a:t>INTRODUCTION</a:t>
            </a:r>
            <a:endParaRPr lang="en-US" sz="3000" dirty="0"/>
          </a:p>
        </p:txBody>
      </p:sp>
      <p:sp>
        <p:nvSpPr>
          <p:cNvPr id="3" name="Text 1"/>
          <p:cNvSpPr txBox="1"/>
          <p:nvPr/>
        </p:nvSpPr>
        <p:spPr>
          <a:xfrm>
            <a:off x="220201" y="1297305"/>
            <a:ext cx="11091672" cy="457200"/>
          </a:xfrm>
          <a:prstGeom prst="rect">
            <a:avLst/>
          </a:prstGeom>
          <a:noFill/>
          <a:ln/>
        </p:spPr>
        <p:txBody>
          <a:bodyPr wrap="square" rtlCol="0" anchor="ctr"/>
          <a:lstStyle/>
          <a:p>
            <a:pPr marL="0" indent="0" algn="ctr">
              <a:buNone/>
            </a:pPr>
            <a:r>
              <a:rPr lang="en-US" sz="2400" b="1" dirty="0">
                <a:solidFill>
                  <a:srgbClr val="1F6F6F"/>
                </a:solidFill>
                <a:latin typeface="Times New Roman" pitchFamily="34" charset="0"/>
                <a:ea typeface="Times New Roman" pitchFamily="34" charset="-122"/>
                <a:cs typeface="Times New Roman" pitchFamily="34" charset="-120"/>
              </a:rPr>
              <a:t>Hybrid</a:t>
            </a:r>
            <a:r>
              <a:rPr lang="en-US" sz="2000" b="1" dirty="0">
                <a:solidFill>
                  <a:srgbClr val="1F6F6F"/>
                </a:solidFill>
                <a:latin typeface="Times New Roman" pitchFamily="34" charset="0"/>
                <a:ea typeface="Times New Roman" pitchFamily="34" charset="-122"/>
                <a:cs typeface="Times New Roman" pitchFamily="34" charset="-120"/>
              </a:rPr>
              <a:t> EfficientNet B0 + </a:t>
            </a:r>
            <a:r>
              <a:rPr lang="en-US" sz="2000" b="1" dirty="0" err="1">
                <a:solidFill>
                  <a:srgbClr val="1F6F6F"/>
                </a:solidFill>
                <a:latin typeface="Times New Roman" pitchFamily="34" charset="0"/>
                <a:ea typeface="Times New Roman" pitchFamily="34" charset="-122"/>
                <a:cs typeface="Times New Roman" pitchFamily="34" charset="-120"/>
              </a:rPr>
              <a:t>TempCNN</a:t>
            </a:r>
            <a:r>
              <a:rPr lang="en-US" sz="2000" b="1" dirty="0">
                <a:solidFill>
                  <a:srgbClr val="1F6F6F"/>
                </a:solidFill>
                <a:latin typeface="Times New Roman" pitchFamily="34" charset="0"/>
                <a:ea typeface="Times New Roman" pitchFamily="34" charset="-122"/>
                <a:cs typeface="Times New Roman" pitchFamily="34" charset="-120"/>
              </a:rPr>
              <a:t> Approach</a:t>
            </a:r>
            <a:endParaRPr lang="en-US" sz="2000" dirty="0"/>
          </a:p>
        </p:txBody>
      </p:sp>
      <p:sp>
        <p:nvSpPr>
          <p:cNvPr id="4" name="Text 2"/>
          <p:cNvSpPr txBox="1"/>
          <p:nvPr/>
        </p:nvSpPr>
        <p:spPr>
          <a:xfrm>
            <a:off x="753913" y="2268855"/>
            <a:ext cx="10725912" cy="411480"/>
          </a:xfrm>
          <a:prstGeom prst="rect">
            <a:avLst/>
          </a:prstGeom>
          <a:noFill/>
          <a:ln/>
        </p:spPr>
        <p:txBody>
          <a:bodyPr wrap="square" rtlCol="0" anchor="ctr"/>
          <a:lstStyle/>
          <a:p>
            <a:pPr marL="0" indent="0">
              <a:buNone/>
            </a:pPr>
            <a:r>
              <a:rPr lang="en-US" sz="1900" b="1" dirty="0">
                <a:solidFill>
                  <a:srgbClr val="1A1A1A"/>
                </a:solidFill>
                <a:latin typeface="Times New Roman" pitchFamily="34" charset="0"/>
                <a:ea typeface="Times New Roman" pitchFamily="34" charset="-122"/>
                <a:cs typeface="Times New Roman" pitchFamily="34" charset="-120"/>
              </a:rPr>
              <a:t>1. Spatial Feature Extraction</a:t>
            </a:r>
            <a:endParaRPr lang="en-US" sz="1900" dirty="0"/>
          </a:p>
        </p:txBody>
      </p:sp>
      <p:sp>
        <p:nvSpPr>
          <p:cNvPr id="5" name="Text 3"/>
          <p:cNvSpPr txBox="1"/>
          <p:nvPr/>
        </p:nvSpPr>
        <p:spPr>
          <a:xfrm>
            <a:off x="776306" y="2394585"/>
            <a:ext cx="10543032" cy="822960"/>
          </a:xfrm>
          <a:prstGeom prst="rect">
            <a:avLst/>
          </a:prstGeom>
          <a:noFill/>
          <a:ln/>
        </p:spPr>
        <p:txBody>
          <a:bodyPr wrap="square" rtlCol="0" anchor="ctr"/>
          <a:lstStyle/>
          <a:p>
            <a:pPr marL="0" indent="0">
              <a:buNone/>
            </a:pPr>
            <a:r>
              <a:rPr lang="en-US" sz="1700" dirty="0">
                <a:solidFill>
                  <a:srgbClr val="1A1A1A"/>
                </a:solidFill>
                <a:latin typeface="Arial" pitchFamily="34" charset="0"/>
                <a:ea typeface="Arial" pitchFamily="34" charset="-122"/>
                <a:cs typeface="Arial" pitchFamily="34" charset="-120"/>
              </a:rPr>
              <a:t>Enhanced EfficientNet B0 extracts fine-grained facial features and landmarks from each video segment.</a:t>
            </a:r>
            <a:endParaRPr lang="en-US" sz="1700" dirty="0"/>
          </a:p>
        </p:txBody>
      </p:sp>
      <p:sp>
        <p:nvSpPr>
          <p:cNvPr id="6" name="Text 4"/>
          <p:cNvSpPr txBox="1"/>
          <p:nvPr/>
        </p:nvSpPr>
        <p:spPr>
          <a:xfrm>
            <a:off x="753913" y="3268980"/>
            <a:ext cx="10725912" cy="411480"/>
          </a:xfrm>
          <a:prstGeom prst="rect">
            <a:avLst/>
          </a:prstGeom>
          <a:noFill/>
          <a:ln/>
        </p:spPr>
        <p:txBody>
          <a:bodyPr wrap="square" rtlCol="0" anchor="ctr"/>
          <a:lstStyle/>
          <a:p>
            <a:pPr marL="0" indent="0">
              <a:buNone/>
            </a:pPr>
            <a:r>
              <a:rPr lang="en-US" sz="1900" b="1" dirty="0">
                <a:solidFill>
                  <a:srgbClr val="1A1A1A"/>
                </a:solidFill>
                <a:latin typeface="Times New Roman" pitchFamily="34" charset="0"/>
                <a:ea typeface="Times New Roman" pitchFamily="34" charset="-122"/>
                <a:cs typeface="Times New Roman" pitchFamily="34" charset="-120"/>
              </a:rPr>
              <a:t>2. Temporal Pattern Recognition</a:t>
            </a:r>
            <a:endParaRPr lang="en-US" sz="1900" dirty="0"/>
          </a:p>
        </p:txBody>
      </p:sp>
      <p:sp>
        <p:nvSpPr>
          <p:cNvPr id="7" name="Text 5"/>
          <p:cNvSpPr txBox="1"/>
          <p:nvPr/>
        </p:nvSpPr>
        <p:spPr>
          <a:xfrm>
            <a:off x="753913" y="3543300"/>
            <a:ext cx="10552362" cy="822960"/>
          </a:xfrm>
          <a:prstGeom prst="rect">
            <a:avLst/>
          </a:prstGeom>
          <a:noFill/>
          <a:ln/>
        </p:spPr>
        <p:txBody>
          <a:bodyPr wrap="square" rtlCol="0" anchor="ctr"/>
          <a:lstStyle/>
          <a:p>
            <a:pPr marL="0" indent="0">
              <a:buNone/>
            </a:pPr>
            <a:r>
              <a:rPr lang="en-US" sz="1700" dirty="0">
                <a:solidFill>
                  <a:srgbClr val="1A1A1A"/>
                </a:solidFill>
                <a:latin typeface="Arial" pitchFamily="34" charset="0"/>
                <a:ea typeface="Arial" pitchFamily="34" charset="-122"/>
                <a:cs typeface="Arial" pitchFamily="34" charset="-120"/>
              </a:rPr>
              <a:t>TempCNN analyzes the sequence of extracted features to catch inconsistent motion or expressions that GANs leave behind.</a:t>
            </a:r>
            <a:endParaRPr lang="en-US" sz="1700" dirty="0"/>
          </a:p>
        </p:txBody>
      </p:sp>
      <p:sp>
        <p:nvSpPr>
          <p:cNvPr id="8" name="Text 6"/>
          <p:cNvSpPr txBox="1"/>
          <p:nvPr/>
        </p:nvSpPr>
        <p:spPr>
          <a:xfrm>
            <a:off x="753913" y="4480560"/>
            <a:ext cx="10725912" cy="411480"/>
          </a:xfrm>
          <a:prstGeom prst="rect">
            <a:avLst/>
          </a:prstGeom>
          <a:noFill/>
          <a:ln/>
        </p:spPr>
        <p:txBody>
          <a:bodyPr wrap="square" rtlCol="0" anchor="ctr"/>
          <a:lstStyle/>
          <a:p>
            <a:pPr marL="0" indent="0">
              <a:buNone/>
            </a:pPr>
            <a:r>
              <a:rPr lang="en-US" sz="1900" b="1" dirty="0">
                <a:solidFill>
                  <a:srgbClr val="1A1A1A"/>
                </a:solidFill>
                <a:latin typeface="Times New Roman" pitchFamily="34" charset="0"/>
                <a:ea typeface="Times New Roman" pitchFamily="34" charset="-122"/>
                <a:cs typeface="Times New Roman" pitchFamily="34" charset="-120"/>
              </a:rPr>
              <a:t>3. Balanced Trade-off</a:t>
            </a:r>
            <a:endParaRPr lang="en-US" sz="1900" dirty="0"/>
          </a:p>
        </p:txBody>
      </p:sp>
      <p:sp>
        <p:nvSpPr>
          <p:cNvPr id="9" name="Text 7"/>
          <p:cNvSpPr txBox="1"/>
          <p:nvPr/>
        </p:nvSpPr>
        <p:spPr>
          <a:xfrm>
            <a:off x="753913" y="4754880"/>
            <a:ext cx="10552362" cy="822960"/>
          </a:xfrm>
          <a:prstGeom prst="rect">
            <a:avLst/>
          </a:prstGeom>
          <a:noFill/>
          <a:ln/>
        </p:spPr>
        <p:txBody>
          <a:bodyPr wrap="square" rtlCol="0" anchor="ctr"/>
          <a:lstStyle/>
          <a:p>
            <a:pPr marL="0" indent="0">
              <a:buNone/>
            </a:pPr>
            <a:r>
              <a:rPr lang="en-US" sz="1700" dirty="0">
                <a:solidFill>
                  <a:srgbClr val="1A1A1A"/>
                </a:solidFill>
                <a:latin typeface="Arial" pitchFamily="34" charset="0"/>
                <a:ea typeface="Arial" pitchFamily="34" charset="-122"/>
                <a:cs typeface="Arial" pitchFamily="34" charset="-120"/>
              </a:rPr>
              <a:t>The framework targets high detection accuracy without the heavy computational cost of many hybrid or attention-based models.</a:t>
            </a:r>
            <a:endParaRPr lang="en-US" sz="1700" dirty="0"/>
          </a:p>
        </p:txBody>
      </p:sp>
      <p:sp>
        <p:nvSpPr>
          <p:cNvPr id="10" name="Slide Number 10"/>
          <p:cNvSpPr txBox="1"/>
          <p:nvPr/>
        </p:nvSpPr>
        <p:spPr>
          <a:xfrm>
            <a:off x="11150000" y="6430000"/>
            <a:ext cx="700000" cy="280000"/>
          </a:xfrm>
          <a:prstGeom prst="rect">
            <a:avLst/>
          </a:prstGeom>
          <a:noFill/>
        </p:spPr>
        <p:txBody>
          <a:bodyPr wrap="none" lIns="0" tIns="0" rIns="0" bIns="0" anchor="ctr"/>
          <a:lstStyle/>
          <a:p>
            <a:pPr algn="r"/>
            <a:fld id="{B6F15528-21DE-4FAA-801E-634DDDAF4B2B}" type="slidenum">
              <a:rPr lang="en-US" sz="1200" b="1">
                <a:solidFill>
                  <a:srgbClr val="595959"/>
                </a:solidFill>
              </a:rPr>
              <a:t>5</a:t>
            </a:fld>
            <a:endParaRPr 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rtlCol="0" anchor="ctr"/>
          <a:lstStyle/>
          <a:p>
            <a:pPr marL="0" indent="0" algn="ctr">
              <a:buNone/>
            </a:pPr>
            <a:r>
              <a:rPr lang="en-US" sz="3000" b="1">
                <a:solidFill>
                  <a:srgbClr val="1A1A1A"/>
                </a:solidFill>
                <a:latin typeface="Times New Roman" pitchFamily="34" charset="0"/>
                <a:ea typeface="Times New Roman" pitchFamily="34" charset="-122"/>
                <a:cs typeface="Times New Roman" pitchFamily="34" charset="-120"/>
              </a:rPr>
              <a:t>Overall Architecture</a:t>
            </a:r>
            <a:endParaRPr lang="en-US" sz="3000" dirty="0"/>
          </a:p>
        </p:txBody>
      </p:sp>
      <p:pic>
        <p:nvPicPr>
          <p:cNvPr id="3" name="Image 0" descr="/home/claude/pdf_images/fig1_hires_tight.png"/>
          <p:cNvPicPr>
            <a:picLocks noChangeAspect="1"/>
          </p:cNvPicPr>
          <p:nvPr/>
        </p:nvPicPr>
        <p:blipFill>
          <a:blip r:embed="rId3"/>
          <a:stretch>
            <a:fillRect/>
          </a:stretch>
        </p:blipFill>
        <p:spPr>
          <a:xfrm>
            <a:off x="822960" y="1188719"/>
            <a:ext cx="10515600" cy="4957437"/>
          </a:xfrm>
          <a:prstGeom prst="rect">
            <a:avLst/>
          </a:prstGeom>
        </p:spPr>
      </p:pic>
      <p:sp>
        <p:nvSpPr>
          <p:cNvPr id="4" name="Text 1"/>
          <p:cNvSpPr txBox="1"/>
          <p:nvPr/>
        </p:nvSpPr>
        <p:spPr>
          <a:xfrm>
            <a:off x="822960" y="6309360"/>
            <a:ext cx="10515600" cy="365760"/>
          </a:xfrm>
          <a:prstGeom prst="rect">
            <a:avLst/>
          </a:prstGeom>
          <a:noFill/>
          <a:ln/>
        </p:spPr>
        <p:txBody>
          <a:bodyPr wrap="square" rtlCol="0" anchor="ctr"/>
          <a:lstStyle/>
          <a:p>
            <a:pPr marL="0" indent="0" algn="ctr">
              <a:buNone/>
            </a:pPr>
            <a:r>
              <a:rPr lang="en-US" sz="1300" i="1">
                <a:solidFill>
                  <a:srgbClr val="1A1A1A"/>
                </a:solidFill>
                <a:latin typeface="Times New Roman" pitchFamily="34" charset="0"/>
                <a:ea typeface="Times New Roman" pitchFamily="34" charset="-122"/>
                <a:cs typeface="Times New Roman" pitchFamily="34" charset="-120"/>
              </a:rPr>
              <a:t>The main architecture of the proposed framework</a:t>
            </a:r>
            <a:endParaRPr lang="en-US" sz="1300" dirty="0"/>
          </a:p>
        </p:txBody>
      </p:sp>
      <p:sp>
        <p:nvSpPr>
          <p:cNvPr id="5" name="Slide Number 5"/>
          <p:cNvSpPr txBox="1"/>
          <p:nvPr/>
        </p:nvSpPr>
        <p:spPr>
          <a:xfrm>
            <a:off x="11150000" y="6430000"/>
            <a:ext cx="700000" cy="280000"/>
          </a:xfrm>
          <a:prstGeom prst="rect">
            <a:avLst/>
          </a:prstGeom>
          <a:noFill/>
        </p:spPr>
        <p:txBody>
          <a:bodyPr wrap="none" lIns="0" tIns="0" rIns="0" bIns="0" anchor="ctr"/>
          <a:lstStyle/>
          <a:p>
            <a:pPr algn="r"/>
            <a:fld id="{B6F15528-21DE-4FAA-801E-634DDDAF4B2B}" type="slidenum">
              <a:rPr lang="en-US" sz="1200" b="1">
                <a:solidFill>
                  <a:srgbClr val="595959"/>
                </a:solidFill>
              </a:rPr>
              <a:t>7</a:t>
            </a:fld>
            <a:endParaRPr lang="en-US" sz="1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0040"/>
            <a:ext cx="110642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3000" b="1">
                <a:solidFill>
                  <a:srgbClr val="1A1A1A"/>
                </a:solidFill>
                <a:latin typeface="Times New Roman"/>
              </a:rPr>
              <a:t>Video Segmentation and Preprocessing</a:t>
            </a:r>
          </a:p>
        </p:txBody>
      </p:sp>
      <p:sp>
        <p:nvSpPr>
          <p:cNvPr id="3" name="Slide Number"/>
          <p:cNvSpPr/>
          <p:nvPr/>
        </p:nvSpPr>
        <p:spPr>
          <a:xfrm>
            <a:off x="11155680" y="6428232"/>
            <a:ext cx="731520" cy="2834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r"/>
            <a:r>
              <a:rPr sz="1200" b="0">
                <a:solidFill>
                  <a:srgbClr val="595959"/>
                </a:solidFill>
                <a:latin typeface="Arial"/>
              </a:rPr>
              <a:t>8</a:t>
            </a:r>
          </a:p>
        </p:txBody>
      </p:sp>
      <p:sp>
        <p:nvSpPr>
          <p:cNvPr id="4" name="Rectangle 3"/>
          <p:cNvSpPr/>
          <p:nvPr/>
        </p:nvSpPr>
        <p:spPr>
          <a:xfrm>
            <a:off x="640080" y="1097280"/>
            <a:ext cx="1088136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600" b="0">
                <a:solidFill>
                  <a:srgbClr val="1A1A1A"/>
                </a:solidFill>
                <a:latin typeface="Arial"/>
              </a:rPr>
              <a:t>The input video is split into discrete segments, and each segment is processed independently so that more features can be examined.</a:t>
            </a:r>
          </a:p>
        </p:txBody>
      </p:sp>
      <p:sp>
        <p:nvSpPr>
          <p:cNvPr id="5" name="Rectangle 4"/>
          <p:cNvSpPr/>
          <p:nvPr/>
        </p:nvSpPr>
        <p:spPr>
          <a:xfrm>
            <a:off x="822960" y="1920240"/>
            <a:ext cx="10515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300" b="1">
                <a:solidFill>
                  <a:srgbClr val="3E6E56"/>
                </a:solidFill>
                <a:latin typeface="Arial"/>
              </a:rPr>
              <a:t>Eq. (1)  Video segmentation</a:t>
            </a:r>
          </a:p>
        </p:txBody>
      </p:sp>
      <p:sp>
        <p:nvSpPr>
          <p:cNvPr id="6" name="Rectangle 5"/>
          <p:cNvSpPr/>
          <p:nvPr/>
        </p:nvSpPr>
        <p:spPr>
          <a:xfrm>
            <a:off x="822960" y="2212848"/>
            <a:ext cx="1051560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800" b="0">
                <a:solidFill>
                  <a:srgbClr val="1A1A1A"/>
                </a:solidFill>
                <a:latin typeface="Courier New"/>
              </a:rPr>
              <a:t>V = {S1, S2, S3, ... , SN}</a:t>
            </a:r>
          </a:p>
        </p:txBody>
      </p:sp>
      <p:sp>
        <p:nvSpPr>
          <p:cNvPr id="7" name="Rectangle 6"/>
          <p:cNvSpPr/>
          <p:nvPr/>
        </p:nvSpPr>
        <p:spPr>
          <a:xfrm>
            <a:off x="822960" y="2697480"/>
            <a:ext cx="105156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400" b="0">
                <a:solidFill>
                  <a:srgbClr val="1A1A1A"/>
                </a:solidFill>
                <a:latin typeface="Arial"/>
              </a:rPr>
              <a:t>Video V is divided into N segments (frames); Si denotes the i-th segment.</a:t>
            </a:r>
          </a:p>
        </p:txBody>
      </p:sp>
      <p:sp>
        <p:nvSpPr>
          <p:cNvPr id="8" name="Rectangle 7"/>
          <p:cNvSpPr/>
          <p:nvPr/>
        </p:nvSpPr>
        <p:spPr>
          <a:xfrm>
            <a:off x="822960" y="3337560"/>
            <a:ext cx="10515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300" b="1">
                <a:solidFill>
                  <a:srgbClr val="3E6E56"/>
                </a:solidFill>
                <a:latin typeface="Arial"/>
              </a:rPr>
              <a:t>Eq. (2)  Preprocessing of each segment</a:t>
            </a:r>
          </a:p>
        </p:txBody>
      </p:sp>
      <p:sp>
        <p:nvSpPr>
          <p:cNvPr id="9" name="Rectangle 8"/>
          <p:cNvSpPr/>
          <p:nvPr/>
        </p:nvSpPr>
        <p:spPr>
          <a:xfrm>
            <a:off x="822960" y="3630168"/>
            <a:ext cx="1051560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800" b="0">
                <a:solidFill>
                  <a:srgbClr val="1A1A1A"/>
                </a:solidFill>
                <a:latin typeface="Courier New"/>
              </a:rPr>
              <a:t>S'i = A( R( N( Si ) ) )</a:t>
            </a:r>
          </a:p>
        </p:txBody>
      </p:sp>
      <p:sp>
        <p:nvSpPr>
          <p:cNvPr id="10" name="Rectangle 9"/>
          <p:cNvSpPr/>
          <p:nvPr/>
        </p:nvSpPr>
        <p:spPr>
          <a:xfrm>
            <a:off x="822960" y="4114800"/>
            <a:ext cx="105156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400" b="0">
                <a:solidFill>
                  <a:srgbClr val="1A1A1A"/>
                </a:solidFill>
                <a:latin typeface="Arial"/>
              </a:rPr>
              <a:t>N = normalization, R = resizing, A = augmentation (CutMix, MixUp, Random Erasing). Applied in this order to every segment.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rtlCol="0" anchor="ctr"/>
          <a:lstStyle/>
          <a:p>
            <a:pPr marL="0" indent="0" algn="l">
              <a:buNone/>
            </a:pPr>
            <a:r>
              <a:rPr lang="en-US" sz="3000" b="1" dirty="0">
                <a:solidFill>
                  <a:srgbClr val="1A1A1A"/>
                </a:solidFill>
                <a:latin typeface="Times New Roman" pitchFamily="34" charset="0"/>
                <a:ea typeface="Times New Roman" pitchFamily="34" charset="-122"/>
                <a:cs typeface="Times New Roman" pitchFamily="34" charset="-120"/>
              </a:rPr>
              <a:t>Face Detection &amp; Alignment (MTCNN)</a:t>
            </a:r>
            <a:endParaRPr lang="en-US" sz="3000" dirty="0"/>
          </a:p>
        </p:txBody>
      </p:sp>
      <p:sp>
        <p:nvSpPr>
          <p:cNvPr id="3" name="Text 1"/>
          <p:cNvSpPr txBox="1"/>
          <p:nvPr/>
        </p:nvSpPr>
        <p:spPr>
          <a:xfrm>
            <a:off x="640080" y="1188720"/>
            <a:ext cx="10908792" cy="1280160"/>
          </a:xfrm>
          <a:prstGeom prst="rect">
            <a:avLst/>
          </a:prstGeom>
          <a:noFill/>
          <a:ln/>
        </p:spPr>
        <p:txBody>
          <a:bodyPr wrap="square" rtlCol="0" anchor="ctr"/>
          <a:lstStyle/>
          <a:p>
            <a:pPr marL="0" indent="0">
              <a:buNone/>
            </a:pPr>
            <a:r>
              <a:rPr lang="en-US" sz="2000" dirty="0">
                <a:solidFill>
                  <a:srgbClr val="1A1A1A"/>
                </a:solidFill>
                <a:latin typeface="Arial" pitchFamily="34" charset="0"/>
                <a:ea typeface="Arial" pitchFamily="34" charset="-122"/>
                <a:cs typeface="Arial" pitchFamily="34" charset="-120"/>
              </a:rPr>
              <a:t>A Multi-Task Convolutional Neural Network (MTCNN) maps each frame to a set of facial landmarks, filtering out background noise so the model concentrates only on the pertinent facial regions.</a:t>
            </a:r>
            <a:endParaRPr lang="en-US" sz="2000" dirty="0"/>
          </a:p>
        </p:txBody>
      </p:sp>
      <p:sp>
        <p:nvSpPr>
          <p:cNvPr id="4" name="Text 2"/>
          <p:cNvSpPr txBox="1"/>
          <p:nvPr/>
        </p:nvSpPr>
        <p:spPr>
          <a:xfrm>
            <a:off x="822960" y="2560320"/>
            <a:ext cx="10543032" cy="457200"/>
          </a:xfrm>
          <a:prstGeom prst="rect">
            <a:avLst/>
          </a:prstGeom>
          <a:solidFill>
            <a:srgbClr val="F2F2F2"/>
          </a:solidFill>
          <a:ln/>
        </p:spPr>
        <p:txBody>
          <a:bodyPr wrap="square" rtlCol="0" anchor="ctr"/>
          <a:lstStyle/>
          <a:p>
            <a:pPr marL="0" indent="0">
              <a:buNone/>
            </a:pPr>
            <a:r>
              <a:rPr lang="en-US" sz="1900" i="1" dirty="0">
                <a:solidFill>
                  <a:srgbClr val="1A1A1A"/>
                </a:solidFill>
                <a:latin typeface="Courier New" pitchFamily="34" charset="0"/>
                <a:ea typeface="Courier New" pitchFamily="34" charset="-122"/>
                <a:cs typeface="Courier New" pitchFamily="34" charset="-120"/>
              </a:rPr>
              <a:t>L = F_CNN(X),    L = {(x1,y1), (x2,y2), ... , (xn,yn)}</a:t>
            </a:r>
            <a:endParaRPr lang="en-US" sz="1900" dirty="0"/>
          </a:p>
        </p:txBody>
      </p:sp>
      <p:pic>
        <p:nvPicPr>
          <p:cNvPr id="6" name="Picture 5" descr="Deep Face Detection with MTCNN in Python - Sefik Ilkin Serengil">
            <a:extLst>
              <a:ext uri="{FF2B5EF4-FFF2-40B4-BE49-F238E27FC236}">
                <a16:creationId xmlns:a16="http://schemas.microsoft.com/office/drawing/2014/main" id="{0E783854-6E45-79B4-FDDC-A638DA267E9C}"/>
              </a:ext>
            </a:extLst>
          </p:cNvPr>
          <p:cNvPicPr>
            <a:picLocks noChangeAspect="1"/>
          </p:cNvPicPr>
          <p:nvPr/>
        </p:nvPicPr>
        <p:blipFill>
          <a:blip r:embed="rId3"/>
          <a:stretch>
            <a:fillRect/>
          </a:stretch>
        </p:blipFill>
        <p:spPr>
          <a:xfrm>
            <a:off x="2743200" y="3573752"/>
            <a:ext cx="5561045" cy="2758799"/>
          </a:xfrm>
          <a:prstGeom prst="rect">
            <a:avLst/>
          </a:prstGeom>
        </p:spPr>
      </p:pic>
      <p:sp>
        <p:nvSpPr>
          <p:cNvPr id="7" name="Slide Number 7"/>
          <p:cNvSpPr txBox="1"/>
          <p:nvPr/>
        </p:nvSpPr>
        <p:spPr>
          <a:xfrm>
            <a:off x="11150000" y="6430000"/>
            <a:ext cx="700000" cy="280000"/>
          </a:xfrm>
          <a:prstGeom prst="rect">
            <a:avLst/>
          </a:prstGeom>
          <a:noFill/>
        </p:spPr>
        <p:txBody>
          <a:bodyPr wrap="none" lIns="0" tIns="0" rIns="0" bIns="0" anchor="ctr"/>
          <a:lstStyle/>
          <a:p>
            <a:pPr algn="r"/>
            <a:fld id="{B6F15528-21DE-4FAA-801E-634DDDAF4B2B}" type="slidenum">
              <a:rPr lang="en-US" sz="1200" b="1">
                <a:solidFill>
                  <a:srgbClr val="595959"/>
                </a:solidFill>
              </a:rPr>
              <a:t>9</a:t>
            </a:fld>
            <a:endParaRPr lang="en-US" sz="12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rtlCol="0" anchor="ctr"/>
          <a:lstStyle/>
          <a:p>
            <a:pPr marL="0" indent="0" algn="l">
              <a:buNone/>
            </a:pPr>
            <a:r>
              <a:rPr lang="en-US" sz="3000" b="1" dirty="0">
                <a:solidFill>
                  <a:srgbClr val="1A1A1A"/>
                </a:solidFill>
                <a:latin typeface="Times New Roman" pitchFamily="34" charset="0"/>
                <a:ea typeface="Times New Roman" pitchFamily="34" charset="-122"/>
                <a:cs typeface="Times New Roman" pitchFamily="34" charset="-120"/>
              </a:rPr>
              <a:t>Data Augmentation</a:t>
            </a:r>
            <a:endParaRPr lang="en-US" sz="3000" dirty="0"/>
          </a:p>
        </p:txBody>
      </p:sp>
      <p:sp>
        <p:nvSpPr>
          <p:cNvPr id="3" name="Text 1"/>
          <p:cNvSpPr txBox="1"/>
          <p:nvPr/>
        </p:nvSpPr>
        <p:spPr>
          <a:xfrm>
            <a:off x="640080" y="1143000"/>
            <a:ext cx="10908792" cy="1097280"/>
          </a:xfrm>
          <a:prstGeom prst="rect">
            <a:avLst/>
          </a:prstGeom>
          <a:noFill/>
          <a:ln/>
        </p:spPr>
        <p:txBody>
          <a:bodyPr wrap="square" rtlCol="0" anchor="ctr"/>
          <a:lstStyle/>
          <a:p>
            <a:pPr marL="0" indent="0">
              <a:buNone/>
            </a:pPr>
            <a:r>
              <a:rPr lang="en-US" sz="2000" dirty="0">
                <a:solidFill>
                  <a:srgbClr val="1A1A1A"/>
                </a:solidFill>
                <a:latin typeface="Arial" pitchFamily="34" charset="0"/>
                <a:ea typeface="Arial" pitchFamily="34" charset="-122"/>
                <a:cs typeface="Arial" pitchFamily="34" charset="-120"/>
              </a:rPr>
              <a:t>CutMix, MixUp, and Random Erasing artificially distort training segments, strengthening the model's resistance to the kinds of modifications and distortions often encountered in deepfake content.</a:t>
            </a:r>
            <a:endParaRPr lang="en-US" sz="2000" dirty="0"/>
          </a:p>
        </p:txBody>
      </p:sp>
      <p:sp>
        <p:nvSpPr>
          <p:cNvPr id="4" name="Shape 2"/>
          <p:cNvSpPr/>
          <p:nvPr/>
        </p:nvSpPr>
        <p:spPr>
          <a:xfrm>
            <a:off x="640080" y="2468880"/>
            <a:ext cx="10908792" cy="1143000"/>
          </a:xfrm>
          <a:prstGeom prst="rect">
            <a:avLst/>
          </a:prstGeom>
          <a:solidFill>
            <a:srgbClr val="FFFFFF"/>
          </a:solidFill>
          <a:ln w="12700">
            <a:solidFill>
              <a:srgbClr val="333333"/>
            </a:solidFill>
            <a:prstDash val="solid"/>
          </a:ln>
        </p:spPr>
        <p:txBody>
          <a:bodyPr/>
          <a:lstStyle/>
          <a:p>
            <a:endParaRPr lang="en-IN"/>
          </a:p>
        </p:txBody>
      </p:sp>
      <p:sp>
        <p:nvSpPr>
          <p:cNvPr id="5" name="Text 3"/>
          <p:cNvSpPr txBox="1"/>
          <p:nvPr/>
        </p:nvSpPr>
        <p:spPr>
          <a:xfrm>
            <a:off x="822960" y="2606040"/>
            <a:ext cx="2194560" cy="868680"/>
          </a:xfrm>
          <a:prstGeom prst="rect">
            <a:avLst/>
          </a:prstGeom>
          <a:noFill/>
          <a:ln/>
        </p:spPr>
        <p:txBody>
          <a:bodyPr wrap="square" rtlCol="0" anchor="ctr"/>
          <a:lstStyle/>
          <a:p>
            <a:pPr marL="0" indent="0">
              <a:buNone/>
            </a:pPr>
            <a:r>
              <a:rPr lang="en-US" sz="2000" b="1" dirty="0">
                <a:solidFill>
                  <a:srgbClr val="1A1A1A"/>
                </a:solidFill>
                <a:latin typeface="Times New Roman" pitchFamily="34" charset="0"/>
                <a:ea typeface="Times New Roman" pitchFamily="34" charset="-122"/>
                <a:cs typeface="Times New Roman" pitchFamily="34" charset="-120"/>
              </a:rPr>
              <a:t>CutMix</a:t>
            </a:r>
            <a:endParaRPr lang="en-US" sz="2000" dirty="0"/>
          </a:p>
        </p:txBody>
      </p:sp>
      <p:sp>
        <p:nvSpPr>
          <p:cNvPr id="6" name="Text 4"/>
          <p:cNvSpPr txBox="1"/>
          <p:nvPr/>
        </p:nvSpPr>
        <p:spPr>
          <a:xfrm>
            <a:off x="3200400" y="2560320"/>
            <a:ext cx="8165592" cy="960120"/>
          </a:xfrm>
          <a:prstGeom prst="rect">
            <a:avLst/>
          </a:prstGeom>
          <a:noFill/>
          <a:ln/>
        </p:spPr>
        <p:txBody>
          <a:bodyPr wrap="square" rtlCol="0" anchor="ctr"/>
          <a:lstStyle/>
          <a:p>
            <a:pPr marL="0" indent="0">
              <a:buNone/>
            </a:pPr>
            <a:r>
              <a:rPr lang="en-US" sz="2000" dirty="0">
                <a:solidFill>
                  <a:srgbClr val="1A1A1A"/>
                </a:solidFill>
                <a:latin typeface="Arial" pitchFamily="34" charset="0"/>
                <a:ea typeface="Arial" pitchFamily="34" charset="-122"/>
                <a:cs typeface="Arial" pitchFamily="34" charset="-120"/>
              </a:rPr>
              <a:t>Combines two images by cutting and pasting regions together, exposing the model to diverse data combinations.</a:t>
            </a:r>
            <a:endParaRPr lang="en-US" sz="2000" dirty="0"/>
          </a:p>
        </p:txBody>
      </p:sp>
      <p:sp>
        <p:nvSpPr>
          <p:cNvPr id="7" name="Shape 5"/>
          <p:cNvSpPr/>
          <p:nvPr/>
        </p:nvSpPr>
        <p:spPr>
          <a:xfrm>
            <a:off x="640080" y="3794760"/>
            <a:ext cx="10908792" cy="1143000"/>
          </a:xfrm>
          <a:prstGeom prst="rect">
            <a:avLst/>
          </a:prstGeom>
          <a:solidFill>
            <a:srgbClr val="FFFFFF"/>
          </a:solidFill>
          <a:ln w="12700">
            <a:solidFill>
              <a:srgbClr val="333333"/>
            </a:solidFill>
            <a:prstDash val="solid"/>
          </a:ln>
        </p:spPr>
        <p:txBody>
          <a:bodyPr/>
          <a:lstStyle/>
          <a:p>
            <a:endParaRPr lang="en-IN"/>
          </a:p>
        </p:txBody>
      </p:sp>
      <p:sp>
        <p:nvSpPr>
          <p:cNvPr id="8" name="Text 6"/>
          <p:cNvSpPr txBox="1"/>
          <p:nvPr/>
        </p:nvSpPr>
        <p:spPr>
          <a:xfrm>
            <a:off x="822960" y="3931920"/>
            <a:ext cx="2194560" cy="868680"/>
          </a:xfrm>
          <a:prstGeom prst="rect">
            <a:avLst/>
          </a:prstGeom>
          <a:noFill/>
          <a:ln/>
        </p:spPr>
        <p:txBody>
          <a:bodyPr wrap="square" rtlCol="0" anchor="ctr"/>
          <a:lstStyle/>
          <a:p>
            <a:pPr marL="0" indent="0">
              <a:buNone/>
            </a:pPr>
            <a:r>
              <a:rPr lang="en-US" sz="1900" b="1" dirty="0">
                <a:solidFill>
                  <a:srgbClr val="1A1A1A"/>
                </a:solidFill>
                <a:latin typeface="Times New Roman" pitchFamily="34" charset="0"/>
                <a:ea typeface="Times New Roman" pitchFamily="34" charset="-122"/>
                <a:cs typeface="Times New Roman" pitchFamily="34" charset="-120"/>
              </a:rPr>
              <a:t>MixUp</a:t>
            </a:r>
            <a:endParaRPr lang="en-US" sz="1900" dirty="0"/>
          </a:p>
        </p:txBody>
      </p:sp>
      <p:sp>
        <p:nvSpPr>
          <p:cNvPr id="9" name="Text 7"/>
          <p:cNvSpPr txBox="1"/>
          <p:nvPr/>
        </p:nvSpPr>
        <p:spPr>
          <a:xfrm>
            <a:off x="3200400" y="3886200"/>
            <a:ext cx="8165592" cy="960120"/>
          </a:xfrm>
          <a:prstGeom prst="rect">
            <a:avLst/>
          </a:prstGeom>
          <a:noFill/>
          <a:ln/>
        </p:spPr>
        <p:txBody>
          <a:bodyPr wrap="square" rtlCol="0" anchor="ctr"/>
          <a:lstStyle/>
          <a:p>
            <a:pPr marL="0" indent="0">
              <a:buNone/>
            </a:pPr>
            <a:r>
              <a:rPr lang="en-US" sz="2000" dirty="0">
                <a:solidFill>
                  <a:srgbClr val="1A1A1A"/>
                </a:solidFill>
                <a:latin typeface="Arial" pitchFamily="34" charset="0"/>
                <a:ea typeface="Arial" pitchFamily="34" charset="-122"/>
                <a:cs typeface="Arial" pitchFamily="34" charset="-120"/>
              </a:rPr>
              <a:t>Generates synthetic samples by averaging two images, smoothing decision boundaries and reducing overfitting.</a:t>
            </a:r>
            <a:endParaRPr lang="en-US" sz="2000" dirty="0"/>
          </a:p>
        </p:txBody>
      </p:sp>
      <p:sp>
        <p:nvSpPr>
          <p:cNvPr id="10" name="Shape 8"/>
          <p:cNvSpPr/>
          <p:nvPr/>
        </p:nvSpPr>
        <p:spPr>
          <a:xfrm>
            <a:off x="640080" y="5120640"/>
            <a:ext cx="10908792" cy="1143000"/>
          </a:xfrm>
          <a:prstGeom prst="rect">
            <a:avLst/>
          </a:prstGeom>
          <a:solidFill>
            <a:srgbClr val="FFFFFF"/>
          </a:solidFill>
          <a:ln w="12700">
            <a:solidFill>
              <a:srgbClr val="333333"/>
            </a:solidFill>
            <a:prstDash val="solid"/>
          </a:ln>
        </p:spPr>
        <p:txBody>
          <a:bodyPr/>
          <a:lstStyle/>
          <a:p>
            <a:endParaRPr lang="en-IN"/>
          </a:p>
        </p:txBody>
      </p:sp>
      <p:sp>
        <p:nvSpPr>
          <p:cNvPr id="11" name="Text 9"/>
          <p:cNvSpPr txBox="1"/>
          <p:nvPr/>
        </p:nvSpPr>
        <p:spPr>
          <a:xfrm>
            <a:off x="822960" y="5257800"/>
            <a:ext cx="2194560" cy="868680"/>
          </a:xfrm>
          <a:prstGeom prst="rect">
            <a:avLst/>
          </a:prstGeom>
          <a:noFill/>
          <a:ln/>
        </p:spPr>
        <p:txBody>
          <a:bodyPr wrap="square" rtlCol="0" anchor="ctr"/>
          <a:lstStyle/>
          <a:p>
            <a:pPr marL="0" indent="0">
              <a:buNone/>
            </a:pPr>
            <a:r>
              <a:rPr lang="en-US" sz="1900" b="1" dirty="0">
                <a:solidFill>
                  <a:srgbClr val="1A1A1A"/>
                </a:solidFill>
                <a:latin typeface="Times New Roman" pitchFamily="34" charset="0"/>
                <a:ea typeface="Times New Roman" pitchFamily="34" charset="-122"/>
                <a:cs typeface="Times New Roman" pitchFamily="34" charset="-120"/>
              </a:rPr>
              <a:t>Random</a:t>
            </a:r>
            <a:endParaRPr lang="en-US" sz="1900" dirty="0"/>
          </a:p>
          <a:p>
            <a:pPr marL="0" indent="0">
              <a:buNone/>
            </a:pPr>
            <a:r>
              <a:rPr lang="en-US" sz="1900" b="1" dirty="0">
                <a:solidFill>
                  <a:srgbClr val="1A1A1A"/>
                </a:solidFill>
                <a:latin typeface="Times New Roman" pitchFamily="34" charset="0"/>
                <a:ea typeface="Times New Roman" pitchFamily="34" charset="-122"/>
                <a:cs typeface="Times New Roman" pitchFamily="34" charset="-120"/>
              </a:rPr>
              <a:t>Erasing</a:t>
            </a:r>
            <a:endParaRPr lang="en-US" sz="1900" dirty="0"/>
          </a:p>
        </p:txBody>
      </p:sp>
      <p:sp>
        <p:nvSpPr>
          <p:cNvPr id="12" name="Text 10"/>
          <p:cNvSpPr txBox="1"/>
          <p:nvPr/>
        </p:nvSpPr>
        <p:spPr>
          <a:xfrm>
            <a:off x="3200400" y="5212080"/>
            <a:ext cx="8165592" cy="960120"/>
          </a:xfrm>
          <a:prstGeom prst="rect">
            <a:avLst/>
          </a:prstGeom>
          <a:noFill/>
          <a:ln/>
        </p:spPr>
        <p:txBody>
          <a:bodyPr wrap="square" rtlCol="0" anchor="ctr"/>
          <a:lstStyle/>
          <a:p>
            <a:pPr marL="0" indent="0">
              <a:buNone/>
            </a:pPr>
            <a:r>
              <a:rPr lang="en-US" sz="2000" dirty="0">
                <a:solidFill>
                  <a:srgbClr val="1A1A1A"/>
                </a:solidFill>
                <a:latin typeface="Arial" pitchFamily="34" charset="0"/>
                <a:ea typeface="Arial" pitchFamily="34" charset="-122"/>
                <a:cs typeface="Arial" pitchFamily="34" charset="-120"/>
              </a:rPr>
              <a:t>Randomly erases parts of an image so the model learns to recognize features even when input is missing or altered.</a:t>
            </a:r>
            <a:endParaRPr lang="en-US" sz="2000" dirty="0"/>
          </a:p>
        </p:txBody>
      </p:sp>
      <p:sp>
        <p:nvSpPr>
          <p:cNvPr id="13" name="Slide Number 13"/>
          <p:cNvSpPr txBox="1"/>
          <p:nvPr/>
        </p:nvSpPr>
        <p:spPr>
          <a:xfrm>
            <a:off x="11150000" y="6430000"/>
            <a:ext cx="700000" cy="280000"/>
          </a:xfrm>
          <a:prstGeom prst="rect">
            <a:avLst/>
          </a:prstGeom>
          <a:noFill/>
        </p:spPr>
        <p:txBody>
          <a:bodyPr wrap="none" lIns="0" tIns="0" rIns="0" bIns="0" anchor="ctr"/>
          <a:lstStyle/>
          <a:p>
            <a:pPr algn="r"/>
            <a:fld id="{B6F15528-21DE-4FAA-801E-634DDDAF4B2B}" type="slidenum">
              <a:rPr lang="en-US" sz="1200" b="1">
                <a:solidFill>
                  <a:srgbClr val="595959"/>
                </a:solidFill>
              </a:rPr>
              <a:t>10</a:t>
            </a:fld>
            <a:endParaRPr lang="en-US" sz="12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rtlCol="0" anchor="ctr"/>
          <a:lstStyle/>
          <a:p>
            <a:pPr marL="0" indent="0" algn="l">
              <a:buNone/>
            </a:pPr>
            <a:r>
              <a:rPr lang="en-US" sz="3000" b="1">
                <a:solidFill>
                  <a:srgbClr val="1A1A1A"/>
                </a:solidFill>
                <a:latin typeface="Times New Roman" pitchFamily="34" charset="0"/>
                <a:ea typeface="Times New Roman" pitchFamily="34" charset="-122"/>
                <a:cs typeface="Times New Roman" pitchFamily="34" charset="-120"/>
              </a:rPr>
              <a:t>Enhanced EfficientNet B0 Backbone</a:t>
            </a:r>
            <a:endParaRPr lang="en-US" sz="3000" dirty="0"/>
          </a:p>
        </p:txBody>
      </p:sp>
      <p:sp>
        <p:nvSpPr>
          <p:cNvPr id="3" name="Text 1"/>
          <p:cNvSpPr txBox="1"/>
          <p:nvPr/>
        </p:nvSpPr>
        <p:spPr>
          <a:xfrm>
            <a:off x="640080" y="1143000"/>
            <a:ext cx="10908792" cy="1737360"/>
          </a:xfrm>
          <a:prstGeom prst="rect">
            <a:avLst/>
          </a:prstGeom>
          <a:noFill/>
          <a:ln/>
        </p:spPr>
        <p:txBody>
          <a:bodyPr wrap="square" rtlCol="0" anchor="ctr"/>
          <a:lstStyle/>
          <a:p>
            <a:pPr marL="0" indent="0">
              <a:buNone/>
            </a:pPr>
            <a:r>
              <a:rPr lang="en-US" sz="2000" dirty="0">
                <a:solidFill>
                  <a:srgbClr val="1A1A1A"/>
                </a:solidFill>
                <a:latin typeface="Arial" pitchFamily="34" charset="0"/>
                <a:ea typeface="Arial" pitchFamily="34" charset="-122"/>
                <a:cs typeface="Arial" pitchFamily="34" charset="-120"/>
              </a:rPr>
              <a:t>Dynamic Input Scaling adapts resolution to segment complexity. The Stem Block applies a 3×3 convolution with Batch Normalization and Swish activation; </a:t>
            </a:r>
            <a:r>
              <a:rPr lang="en-US" sz="2000" dirty="0" err="1">
                <a:solidFill>
                  <a:srgbClr val="1A1A1A"/>
                </a:solidFill>
                <a:latin typeface="Arial" pitchFamily="34" charset="0"/>
                <a:ea typeface="Arial" pitchFamily="34" charset="-122"/>
                <a:cs typeface="Arial" pitchFamily="34" charset="-120"/>
              </a:rPr>
              <a:t>MBConv</a:t>
            </a:r>
            <a:r>
              <a:rPr lang="en-US" sz="2000" dirty="0">
                <a:solidFill>
                  <a:srgbClr val="1A1A1A"/>
                </a:solidFill>
                <a:latin typeface="Arial" pitchFamily="34" charset="0"/>
                <a:ea typeface="Arial" pitchFamily="34" charset="-122"/>
                <a:cs typeface="Arial" pitchFamily="34" charset="-120"/>
              </a:rPr>
              <a:t> blocks then use </a:t>
            </a:r>
            <a:r>
              <a:rPr lang="en-US" sz="2000" dirty="0" err="1">
                <a:solidFill>
                  <a:srgbClr val="1A1A1A"/>
                </a:solidFill>
                <a:latin typeface="Arial" pitchFamily="34" charset="0"/>
                <a:ea typeface="Arial" pitchFamily="34" charset="-122"/>
                <a:cs typeface="Arial" pitchFamily="34" charset="-120"/>
              </a:rPr>
              <a:t>depthwise</a:t>
            </a:r>
            <a:r>
              <a:rPr lang="en-US" sz="2000" dirty="0">
                <a:solidFill>
                  <a:srgbClr val="1A1A1A"/>
                </a:solidFill>
                <a:latin typeface="Arial" pitchFamily="34" charset="0"/>
                <a:ea typeface="Arial" pitchFamily="34" charset="-122"/>
                <a:cs typeface="Arial" pitchFamily="34" charset="-120"/>
              </a:rPr>
              <a:t> convolutions and Squeeze-and-Excitation (SE) to highlight the most informative channels.</a:t>
            </a:r>
            <a:endParaRPr lang="en-US" sz="2000" dirty="0"/>
          </a:p>
        </p:txBody>
      </p:sp>
      <p:sp>
        <p:nvSpPr>
          <p:cNvPr id="6" name="Slide Number 6"/>
          <p:cNvSpPr txBox="1"/>
          <p:nvPr/>
        </p:nvSpPr>
        <p:spPr>
          <a:xfrm>
            <a:off x="11150000" y="6430000"/>
            <a:ext cx="700000" cy="280000"/>
          </a:xfrm>
          <a:prstGeom prst="rect">
            <a:avLst/>
          </a:prstGeom>
          <a:noFill/>
        </p:spPr>
        <p:txBody>
          <a:bodyPr wrap="none" lIns="0" tIns="0" rIns="0" bIns="0" anchor="ctr"/>
          <a:lstStyle/>
          <a:p>
            <a:pPr algn="r"/>
            <a:fld id="{B6F15528-21DE-4FAA-801E-634DDDAF4B2B}" type="slidenum">
              <a:rPr lang="en-US" sz="1200" b="1">
                <a:solidFill>
                  <a:srgbClr val="595959"/>
                </a:solidFill>
              </a:rPr>
              <a:t>11</a:t>
            </a:fld>
            <a:endParaRPr lang="en-US" sz="1200"/>
          </a:p>
        </p:txBody>
      </p:sp>
      <p:pic>
        <p:nvPicPr>
          <p:cNvPr id="8" name="Picture 7">
            <a:extLst>
              <a:ext uri="{FF2B5EF4-FFF2-40B4-BE49-F238E27FC236}">
                <a16:creationId xmlns:a16="http://schemas.microsoft.com/office/drawing/2014/main" id="{F1C986ED-2C57-5B72-92E3-8E0DF1242DF9}"/>
              </a:ext>
            </a:extLst>
          </p:cNvPr>
          <p:cNvPicPr>
            <a:picLocks noChangeAspect="1"/>
          </p:cNvPicPr>
          <p:nvPr/>
        </p:nvPicPr>
        <p:blipFill>
          <a:blip r:embed="rId3"/>
          <a:stretch>
            <a:fillRect/>
          </a:stretch>
        </p:blipFill>
        <p:spPr>
          <a:xfrm>
            <a:off x="640080" y="3180750"/>
            <a:ext cx="11091672" cy="257549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0040"/>
            <a:ext cx="110642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3000" b="1">
                <a:solidFill>
                  <a:srgbClr val="1A1A1A"/>
                </a:solidFill>
                <a:latin typeface="Times New Roman"/>
              </a:rPr>
              <a:t>EfficientNet B0: Key Equations</a:t>
            </a:r>
          </a:p>
        </p:txBody>
      </p:sp>
      <p:sp>
        <p:nvSpPr>
          <p:cNvPr id="3" name="Slide Number"/>
          <p:cNvSpPr/>
          <p:nvPr/>
        </p:nvSpPr>
        <p:spPr>
          <a:xfrm>
            <a:off x="11155680" y="6428232"/>
            <a:ext cx="731520" cy="2834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r"/>
            <a:r>
              <a:rPr sz="1200" b="0">
                <a:solidFill>
                  <a:srgbClr val="595959"/>
                </a:solidFill>
                <a:latin typeface="Arial"/>
              </a:rPr>
              <a:t>12</a:t>
            </a:r>
          </a:p>
        </p:txBody>
      </p:sp>
      <p:sp>
        <p:nvSpPr>
          <p:cNvPr id="4" name="Rectangle 3"/>
          <p:cNvSpPr/>
          <p:nvPr/>
        </p:nvSpPr>
        <p:spPr>
          <a:xfrm>
            <a:off x="640080" y="1097280"/>
            <a:ext cx="1088136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600" b="0">
                <a:solidFill>
                  <a:srgbClr val="1A1A1A"/>
                </a:solidFill>
                <a:latin typeface="Arial"/>
              </a:rPr>
              <a:t>Stem block, Swish activation and the Squeeze-and-Excitation (SE) channel attention inside every MBConv block.</a:t>
            </a:r>
          </a:p>
        </p:txBody>
      </p:sp>
      <p:sp>
        <p:nvSpPr>
          <p:cNvPr id="5" name="Rectangle 4"/>
          <p:cNvSpPr/>
          <p:nvPr/>
        </p:nvSpPr>
        <p:spPr>
          <a:xfrm>
            <a:off x="822960" y="1920240"/>
            <a:ext cx="10515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300" b="1">
                <a:solidFill>
                  <a:srgbClr val="3E6E56"/>
                </a:solidFill>
                <a:latin typeface="Arial"/>
              </a:rPr>
              <a:t>Eq. (4)  Stem block (3x3 conv, 32 filters)</a:t>
            </a:r>
          </a:p>
        </p:txBody>
      </p:sp>
      <p:sp>
        <p:nvSpPr>
          <p:cNvPr id="6" name="Rectangle 5"/>
          <p:cNvSpPr/>
          <p:nvPr/>
        </p:nvSpPr>
        <p:spPr>
          <a:xfrm>
            <a:off x="822960" y="2212848"/>
            <a:ext cx="1051560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800" b="0">
                <a:solidFill>
                  <a:srgbClr val="1A1A1A"/>
                </a:solidFill>
                <a:latin typeface="Courier New"/>
              </a:rPr>
              <a:t>Z = Swish( BN( Conv(W, X) ) )</a:t>
            </a:r>
          </a:p>
        </p:txBody>
      </p:sp>
      <p:sp>
        <p:nvSpPr>
          <p:cNvPr id="7" name="Rectangle 6"/>
          <p:cNvSpPr/>
          <p:nvPr/>
        </p:nvSpPr>
        <p:spPr>
          <a:xfrm>
            <a:off x="822960" y="2697480"/>
            <a:ext cx="105156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400" b="0">
                <a:solidFill>
                  <a:srgbClr val="1A1A1A"/>
                </a:solidFill>
                <a:latin typeface="Arial"/>
              </a:rPr>
              <a:t>Convolution, then Batch Normalization, then Swish activation.</a:t>
            </a:r>
          </a:p>
        </p:txBody>
      </p:sp>
      <p:sp>
        <p:nvSpPr>
          <p:cNvPr id="8" name="Rectangle 7"/>
          <p:cNvSpPr/>
          <p:nvPr/>
        </p:nvSpPr>
        <p:spPr>
          <a:xfrm>
            <a:off x="822960" y="3337560"/>
            <a:ext cx="10515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300" b="1">
                <a:solidFill>
                  <a:srgbClr val="3E6E56"/>
                </a:solidFill>
                <a:latin typeface="Arial"/>
              </a:rPr>
              <a:t>Eq. (5)  Swish activation</a:t>
            </a:r>
          </a:p>
        </p:txBody>
      </p:sp>
      <p:sp>
        <p:nvSpPr>
          <p:cNvPr id="9" name="Rectangle 8"/>
          <p:cNvSpPr/>
          <p:nvPr/>
        </p:nvSpPr>
        <p:spPr>
          <a:xfrm>
            <a:off x="822960" y="3630168"/>
            <a:ext cx="1051560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800" b="0">
                <a:solidFill>
                  <a:srgbClr val="1A1A1A"/>
                </a:solidFill>
                <a:latin typeface="Courier New"/>
              </a:rPr>
              <a:t>Swish(x) = x . sigmoid(x) = x / (1 + e^-x)</a:t>
            </a:r>
          </a:p>
        </p:txBody>
      </p:sp>
      <p:sp>
        <p:nvSpPr>
          <p:cNvPr id="10" name="Rectangle 9"/>
          <p:cNvSpPr/>
          <p:nvPr/>
        </p:nvSpPr>
        <p:spPr>
          <a:xfrm>
            <a:off x="822960" y="4114800"/>
            <a:ext cx="105156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400" b="0">
                <a:solidFill>
                  <a:srgbClr val="1A1A1A"/>
                </a:solidFill>
                <a:latin typeface="Arial"/>
              </a:rPr>
              <a:t>Smooth, non-monotonic activation; keeps small negative values, which helps gradient flow.</a:t>
            </a:r>
          </a:p>
        </p:txBody>
      </p:sp>
      <p:sp>
        <p:nvSpPr>
          <p:cNvPr id="11" name="Rectangle 10"/>
          <p:cNvSpPr/>
          <p:nvPr/>
        </p:nvSpPr>
        <p:spPr>
          <a:xfrm>
            <a:off x="822960" y="4754880"/>
            <a:ext cx="10515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300" b="1">
                <a:solidFill>
                  <a:srgbClr val="3E6E56"/>
                </a:solidFill>
                <a:latin typeface="Arial"/>
              </a:rPr>
              <a:t>Eq. (6)  Squeeze-and-Excitation</a:t>
            </a:r>
          </a:p>
        </p:txBody>
      </p:sp>
      <p:sp>
        <p:nvSpPr>
          <p:cNvPr id="12" name="Rectangle 11"/>
          <p:cNvSpPr/>
          <p:nvPr/>
        </p:nvSpPr>
        <p:spPr>
          <a:xfrm>
            <a:off x="822960" y="5047488"/>
            <a:ext cx="1051560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800" b="0" dirty="0">
                <a:solidFill>
                  <a:srgbClr val="1A1A1A"/>
                </a:solidFill>
                <a:latin typeface="Courier New"/>
              </a:rPr>
              <a:t>X' = X . sigmoid( W2 . </a:t>
            </a:r>
            <a:r>
              <a:rPr sz="1800" b="0" dirty="0" err="1">
                <a:solidFill>
                  <a:srgbClr val="1A1A1A"/>
                </a:solidFill>
                <a:latin typeface="Courier New"/>
              </a:rPr>
              <a:t>ReLU</a:t>
            </a:r>
            <a:r>
              <a:rPr sz="1800" b="0" dirty="0">
                <a:solidFill>
                  <a:srgbClr val="1A1A1A"/>
                </a:solidFill>
                <a:latin typeface="Courier New"/>
              </a:rPr>
              <a:t>( W1 . GAP(X) ) )</a:t>
            </a:r>
          </a:p>
        </p:txBody>
      </p:sp>
      <p:sp>
        <p:nvSpPr>
          <p:cNvPr id="13" name="Rectangle 12"/>
          <p:cNvSpPr/>
          <p:nvPr/>
        </p:nvSpPr>
        <p:spPr>
          <a:xfrm>
            <a:off x="822960" y="5532120"/>
            <a:ext cx="105156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400" b="0">
                <a:solidFill>
                  <a:srgbClr val="1A1A1A"/>
                </a:solidFill>
                <a:latin typeface="Arial"/>
              </a:rPr>
              <a:t>GAP squeezes spatial size; W1, W2 are weight matrices; sigmoid gives channel weights that highlight forgery-related channels and suppress the rest.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rtlCol="0" anchor="ctr"/>
          <a:lstStyle/>
          <a:p>
            <a:pPr marL="0" indent="0" algn="l">
              <a:buNone/>
            </a:pPr>
            <a:r>
              <a:rPr lang="en-US" sz="3000" b="1" dirty="0">
                <a:solidFill>
                  <a:srgbClr val="1A1A1A"/>
                </a:solidFill>
                <a:latin typeface="Times New Roman" pitchFamily="34" charset="0"/>
                <a:ea typeface="Times New Roman" pitchFamily="34" charset="-122"/>
                <a:cs typeface="Times New Roman" pitchFamily="34" charset="-120"/>
              </a:rPr>
              <a:t>Feature Pyramid Network (FPN)</a:t>
            </a:r>
            <a:endParaRPr lang="en-US" sz="3000" dirty="0"/>
          </a:p>
        </p:txBody>
      </p:sp>
      <p:sp>
        <p:nvSpPr>
          <p:cNvPr id="3" name="Text 1"/>
          <p:cNvSpPr txBox="1"/>
          <p:nvPr/>
        </p:nvSpPr>
        <p:spPr>
          <a:xfrm>
            <a:off x="640080" y="1143000"/>
            <a:ext cx="10908792" cy="1828800"/>
          </a:xfrm>
          <a:prstGeom prst="rect">
            <a:avLst/>
          </a:prstGeom>
          <a:noFill/>
          <a:ln/>
        </p:spPr>
        <p:txBody>
          <a:bodyPr wrap="square" rtlCol="0" anchor="ctr"/>
          <a:lstStyle/>
          <a:p>
            <a:pPr marL="0" indent="0">
              <a:buNone/>
            </a:pPr>
            <a:r>
              <a:rPr lang="en-US" sz="1900" dirty="0">
                <a:solidFill>
                  <a:srgbClr val="1A1A1A"/>
                </a:solidFill>
                <a:latin typeface="Arial" pitchFamily="34" charset="0"/>
                <a:ea typeface="Arial" pitchFamily="34" charset="-122"/>
                <a:cs typeface="Arial" pitchFamily="34" charset="-120"/>
              </a:rPr>
              <a:t>The FPN fuses features from the initial, middle, and deeper layers of the EfficientNet B0 backbone. This multi-scale combination captures broad contextual cues — such as irregularities in facial shape — alongside minute details like subtle facial motion, sharpening the model's sensitivity to deepfake artifacts.</a:t>
            </a:r>
            <a:endParaRPr lang="en-US" sz="1900" dirty="0"/>
          </a:p>
        </p:txBody>
      </p:sp>
      <p:sp>
        <p:nvSpPr>
          <p:cNvPr id="4" name="Shape 2"/>
          <p:cNvSpPr/>
          <p:nvPr/>
        </p:nvSpPr>
        <p:spPr>
          <a:xfrm>
            <a:off x="790956" y="3291840"/>
            <a:ext cx="3200400" cy="822960"/>
          </a:xfrm>
          <a:prstGeom prst="rect">
            <a:avLst/>
          </a:prstGeom>
          <a:solidFill>
            <a:srgbClr val="FFFFFF"/>
          </a:solidFill>
          <a:ln w="12700">
            <a:solidFill>
              <a:srgbClr val="333333"/>
            </a:solidFill>
            <a:prstDash val="solid"/>
          </a:ln>
        </p:spPr>
        <p:txBody>
          <a:bodyPr/>
          <a:lstStyle/>
          <a:p>
            <a:endParaRPr lang="en-IN"/>
          </a:p>
        </p:txBody>
      </p:sp>
      <p:sp>
        <p:nvSpPr>
          <p:cNvPr id="5" name="Text 3"/>
          <p:cNvSpPr txBox="1"/>
          <p:nvPr/>
        </p:nvSpPr>
        <p:spPr>
          <a:xfrm>
            <a:off x="790956" y="3291840"/>
            <a:ext cx="3200400" cy="822960"/>
          </a:xfrm>
          <a:prstGeom prst="rect">
            <a:avLst/>
          </a:prstGeom>
          <a:noFill/>
          <a:ln/>
        </p:spPr>
        <p:txBody>
          <a:bodyPr wrap="square" rtlCol="0" anchor="ctr"/>
          <a:lstStyle/>
          <a:p>
            <a:pPr marL="0" indent="0" algn="ctr">
              <a:buNone/>
            </a:pPr>
            <a:r>
              <a:rPr lang="en-US" sz="1600" b="1" dirty="0">
                <a:solidFill>
                  <a:srgbClr val="1A1A1A"/>
                </a:solidFill>
                <a:latin typeface="Arial" pitchFamily="34" charset="0"/>
                <a:ea typeface="Arial" pitchFamily="34" charset="-122"/>
                <a:cs typeface="Arial" pitchFamily="34" charset="-120"/>
              </a:rPr>
              <a:t>Shallow Layer
</a:t>
            </a:r>
            <a:endParaRPr lang="en-US" sz="1600" dirty="0"/>
          </a:p>
          <a:p>
            <a:pPr marL="0" indent="0" algn="ctr">
              <a:buNone/>
            </a:pPr>
            <a:r>
              <a:rPr lang="en-US" sz="1600" dirty="0">
                <a:solidFill>
                  <a:srgbClr val="1A1A1A"/>
                </a:solidFill>
                <a:latin typeface="Arial" pitchFamily="34" charset="0"/>
                <a:ea typeface="Arial" pitchFamily="34" charset="-122"/>
                <a:cs typeface="Arial" pitchFamily="34" charset="-120"/>
              </a:rPr>
              <a:t>(fine detail)</a:t>
            </a:r>
            <a:endParaRPr lang="en-US" sz="1600" dirty="0"/>
          </a:p>
        </p:txBody>
      </p:sp>
      <p:sp>
        <p:nvSpPr>
          <p:cNvPr id="6" name="Shape 4"/>
          <p:cNvSpPr/>
          <p:nvPr/>
        </p:nvSpPr>
        <p:spPr>
          <a:xfrm>
            <a:off x="4494276" y="3291840"/>
            <a:ext cx="3200400" cy="822960"/>
          </a:xfrm>
          <a:prstGeom prst="rect">
            <a:avLst/>
          </a:prstGeom>
          <a:solidFill>
            <a:srgbClr val="FFFFFF"/>
          </a:solidFill>
          <a:ln w="12700">
            <a:solidFill>
              <a:srgbClr val="333333"/>
            </a:solidFill>
            <a:prstDash val="solid"/>
          </a:ln>
        </p:spPr>
        <p:txBody>
          <a:bodyPr/>
          <a:lstStyle/>
          <a:p>
            <a:endParaRPr lang="en-IN"/>
          </a:p>
        </p:txBody>
      </p:sp>
      <p:sp>
        <p:nvSpPr>
          <p:cNvPr id="7" name="Text 5"/>
          <p:cNvSpPr txBox="1"/>
          <p:nvPr/>
        </p:nvSpPr>
        <p:spPr>
          <a:xfrm>
            <a:off x="4494276" y="3291840"/>
            <a:ext cx="3200400" cy="822960"/>
          </a:xfrm>
          <a:prstGeom prst="rect">
            <a:avLst/>
          </a:prstGeom>
          <a:noFill/>
          <a:ln/>
        </p:spPr>
        <p:txBody>
          <a:bodyPr wrap="square" rtlCol="0" anchor="ctr"/>
          <a:lstStyle/>
          <a:p>
            <a:pPr marL="0" indent="0" algn="ctr">
              <a:buNone/>
            </a:pPr>
            <a:r>
              <a:rPr lang="en-US" sz="1600" b="1" dirty="0">
                <a:solidFill>
                  <a:srgbClr val="1A1A1A"/>
                </a:solidFill>
                <a:latin typeface="Arial" pitchFamily="34" charset="0"/>
                <a:ea typeface="Arial" pitchFamily="34" charset="-122"/>
                <a:cs typeface="Arial" pitchFamily="34" charset="-120"/>
              </a:rPr>
              <a:t>Middle Layer
</a:t>
            </a:r>
            <a:endParaRPr lang="en-US" sz="1600" dirty="0"/>
          </a:p>
          <a:p>
            <a:pPr marL="0" indent="0" algn="ctr">
              <a:buNone/>
            </a:pPr>
            <a:r>
              <a:rPr lang="en-US" sz="1600" dirty="0">
                <a:solidFill>
                  <a:srgbClr val="1A1A1A"/>
                </a:solidFill>
                <a:latin typeface="Arial" pitchFamily="34" charset="0"/>
                <a:ea typeface="Arial" pitchFamily="34" charset="-122"/>
                <a:cs typeface="Arial" pitchFamily="34" charset="-120"/>
              </a:rPr>
              <a:t>(local structure)</a:t>
            </a:r>
            <a:endParaRPr lang="en-US" sz="1600" dirty="0"/>
          </a:p>
        </p:txBody>
      </p:sp>
      <p:sp>
        <p:nvSpPr>
          <p:cNvPr id="8" name="Shape 6"/>
          <p:cNvSpPr/>
          <p:nvPr/>
        </p:nvSpPr>
        <p:spPr>
          <a:xfrm>
            <a:off x="8197596" y="3291840"/>
            <a:ext cx="3200400" cy="822960"/>
          </a:xfrm>
          <a:prstGeom prst="rect">
            <a:avLst/>
          </a:prstGeom>
          <a:solidFill>
            <a:srgbClr val="FFFFFF"/>
          </a:solidFill>
          <a:ln w="12700">
            <a:solidFill>
              <a:srgbClr val="333333"/>
            </a:solidFill>
            <a:prstDash val="solid"/>
          </a:ln>
        </p:spPr>
        <p:txBody>
          <a:bodyPr/>
          <a:lstStyle/>
          <a:p>
            <a:endParaRPr lang="en-IN"/>
          </a:p>
        </p:txBody>
      </p:sp>
      <p:sp>
        <p:nvSpPr>
          <p:cNvPr id="9" name="Text 7"/>
          <p:cNvSpPr txBox="1"/>
          <p:nvPr/>
        </p:nvSpPr>
        <p:spPr>
          <a:xfrm>
            <a:off x="8197596" y="3291840"/>
            <a:ext cx="3200400" cy="822960"/>
          </a:xfrm>
          <a:prstGeom prst="rect">
            <a:avLst/>
          </a:prstGeom>
          <a:noFill/>
          <a:ln/>
        </p:spPr>
        <p:txBody>
          <a:bodyPr wrap="square" rtlCol="0" anchor="ctr"/>
          <a:lstStyle/>
          <a:p>
            <a:pPr marL="0" indent="0" algn="ctr">
              <a:buNone/>
            </a:pPr>
            <a:r>
              <a:rPr lang="en-US" sz="1600" b="1" dirty="0">
                <a:solidFill>
                  <a:srgbClr val="1A1A1A"/>
                </a:solidFill>
                <a:latin typeface="Arial" pitchFamily="34" charset="0"/>
                <a:ea typeface="Arial" pitchFamily="34" charset="-122"/>
                <a:cs typeface="Arial" pitchFamily="34" charset="-120"/>
              </a:rPr>
              <a:t>Deep Layer
</a:t>
            </a:r>
            <a:endParaRPr lang="en-US" sz="1600" dirty="0"/>
          </a:p>
          <a:p>
            <a:pPr marL="0" indent="0" algn="ctr">
              <a:buNone/>
            </a:pPr>
            <a:r>
              <a:rPr lang="en-US" sz="1600" dirty="0">
                <a:solidFill>
                  <a:srgbClr val="1A1A1A"/>
                </a:solidFill>
                <a:latin typeface="Arial" pitchFamily="34" charset="0"/>
                <a:ea typeface="Arial" pitchFamily="34" charset="-122"/>
                <a:cs typeface="Arial" pitchFamily="34" charset="-120"/>
              </a:rPr>
              <a:t>(broad context)</a:t>
            </a:r>
            <a:endParaRPr lang="en-US" sz="1600" dirty="0"/>
          </a:p>
        </p:txBody>
      </p:sp>
      <p:sp>
        <p:nvSpPr>
          <p:cNvPr id="10" name="Text 8"/>
          <p:cNvSpPr txBox="1"/>
          <p:nvPr/>
        </p:nvSpPr>
        <p:spPr>
          <a:xfrm>
            <a:off x="0" y="4160520"/>
            <a:ext cx="12188952" cy="365760"/>
          </a:xfrm>
          <a:prstGeom prst="rect">
            <a:avLst/>
          </a:prstGeom>
          <a:noFill/>
          <a:ln/>
        </p:spPr>
        <p:txBody>
          <a:bodyPr wrap="square" rtlCol="0" anchor="ctr"/>
          <a:lstStyle/>
          <a:p>
            <a:pPr marL="0" indent="0" algn="ctr">
              <a:buNone/>
            </a:pPr>
            <a:r>
              <a:rPr lang="en-US" sz="2000" dirty="0">
                <a:solidFill>
                  <a:srgbClr val="1F6F6F"/>
                </a:solidFill>
                <a:latin typeface="Arial" pitchFamily="34" charset="0"/>
                <a:ea typeface="Arial" pitchFamily="34" charset="-122"/>
                <a:cs typeface="Arial" pitchFamily="34" charset="-120"/>
              </a:rPr>
              <a:t>↓  ↓  ↓</a:t>
            </a:r>
            <a:endParaRPr lang="en-US" sz="2000" dirty="0"/>
          </a:p>
        </p:txBody>
      </p:sp>
      <p:sp>
        <p:nvSpPr>
          <p:cNvPr id="11" name="Shape 9"/>
          <p:cNvSpPr/>
          <p:nvPr/>
        </p:nvSpPr>
        <p:spPr>
          <a:xfrm>
            <a:off x="3579876" y="4617720"/>
            <a:ext cx="5029200" cy="640080"/>
          </a:xfrm>
          <a:prstGeom prst="rect">
            <a:avLst/>
          </a:prstGeom>
          <a:solidFill>
            <a:srgbClr val="1A2744"/>
          </a:solidFill>
          <a:ln/>
        </p:spPr>
        <p:txBody>
          <a:bodyPr/>
          <a:lstStyle/>
          <a:p>
            <a:endParaRPr lang="en-IN"/>
          </a:p>
        </p:txBody>
      </p:sp>
      <p:sp>
        <p:nvSpPr>
          <p:cNvPr id="12" name="Text 10"/>
          <p:cNvSpPr txBox="1"/>
          <p:nvPr/>
        </p:nvSpPr>
        <p:spPr>
          <a:xfrm>
            <a:off x="3579876" y="4617720"/>
            <a:ext cx="5029200" cy="640080"/>
          </a:xfrm>
          <a:prstGeom prst="rect">
            <a:avLst/>
          </a:prstGeom>
          <a:noFill/>
          <a:ln/>
        </p:spPr>
        <p:txBody>
          <a:bodyPr wrap="square" rtlCol="0" anchor="ctr"/>
          <a:lstStyle/>
          <a:p>
            <a:pPr marL="0" indent="0" algn="ctr">
              <a:buNone/>
            </a:pPr>
            <a:r>
              <a:rPr lang="en-US" sz="1700" b="1" dirty="0">
                <a:solidFill>
                  <a:srgbClr val="FFFFFF"/>
                </a:solidFill>
                <a:latin typeface="Arial" pitchFamily="34" charset="0"/>
                <a:ea typeface="Arial" pitchFamily="34" charset="-122"/>
                <a:cs typeface="Arial" pitchFamily="34" charset="-120"/>
              </a:rPr>
              <a:t>Fused Multi-Scale Feature Map</a:t>
            </a:r>
            <a:endParaRPr lang="en-US" sz="1700" dirty="0"/>
          </a:p>
        </p:txBody>
      </p:sp>
      <p:sp>
        <p:nvSpPr>
          <p:cNvPr id="13" name="Slide Number 13"/>
          <p:cNvSpPr txBox="1"/>
          <p:nvPr/>
        </p:nvSpPr>
        <p:spPr>
          <a:xfrm>
            <a:off x="11150000" y="6430000"/>
            <a:ext cx="700000" cy="280000"/>
          </a:xfrm>
          <a:prstGeom prst="rect">
            <a:avLst/>
          </a:prstGeom>
          <a:noFill/>
        </p:spPr>
        <p:txBody>
          <a:bodyPr wrap="none" lIns="0" tIns="0" rIns="0" bIns="0" anchor="ctr"/>
          <a:lstStyle/>
          <a:p>
            <a:pPr algn="r"/>
            <a:fld id="{B6F15528-21DE-4FAA-801E-634DDDAF4B2B}" type="slidenum">
              <a:rPr lang="en-US" sz="1200" b="1">
                <a:solidFill>
                  <a:srgbClr val="595959"/>
                </a:solidFill>
              </a:rPr>
              <a:t>13</a:t>
            </a:fld>
            <a:endParaRPr lang="en-US" sz="12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rtlCol="0" anchor="ctr"/>
          <a:lstStyle/>
          <a:p>
            <a:pPr marL="0" indent="0" algn="l">
              <a:buNone/>
            </a:pPr>
            <a:r>
              <a:rPr lang="en-US" sz="3000" b="1" dirty="0">
                <a:solidFill>
                  <a:srgbClr val="1A1A1A"/>
                </a:solidFill>
                <a:latin typeface="Times New Roman" pitchFamily="34" charset="0"/>
                <a:ea typeface="Times New Roman" pitchFamily="34" charset="-122"/>
                <a:cs typeface="Times New Roman" pitchFamily="34" charset="-120"/>
              </a:rPr>
              <a:t>Temporal Convolutional Network (TCN)</a:t>
            </a:r>
            <a:endParaRPr lang="en-US" sz="3000" dirty="0"/>
          </a:p>
        </p:txBody>
      </p:sp>
      <p:sp>
        <p:nvSpPr>
          <p:cNvPr id="3" name="Text 1"/>
          <p:cNvSpPr txBox="1"/>
          <p:nvPr/>
        </p:nvSpPr>
        <p:spPr>
          <a:xfrm>
            <a:off x="640080" y="1143000"/>
            <a:ext cx="10908792" cy="1920240"/>
          </a:xfrm>
          <a:prstGeom prst="rect">
            <a:avLst/>
          </a:prstGeom>
          <a:noFill/>
          <a:ln/>
        </p:spPr>
        <p:txBody>
          <a:bodyPr wrap="square" rtlCol="0" anchor="ctr"/>
          <a:lstStyle/>
          <a:p>
            <a:pPr marL="0" indent="0">
              <a:buNone/>
            </a:pPr>
            <a:r>
              <a:rPr lang="en-US" sz="1900" dirty="0">
                <a:solidFill>
                  <a:srgbClr val="1A1A1A"/>
                </a:solidFill>
                <a:latin typeface="Arial" pitchFamily="34" charset="0"/>
                <a:ea typeface="Arial" pitchFamily="34" charset="-122"/>
                <a:cs typeface="Arial" pitchFamily="34" charset="-120"/>
              </a:rPr>
              <a:t>Because deepfake edits often cause inconsistent motion and expressions over time, the TCN models temporal relationships between segments. Residual TCN layers preserve gradient flow, Adaptive Dilation adjusts the receptive field, and Gated Linear Units (GLUs) regulate which temporal deviations matter most.</a:t>
            </a:r>
            <a:endParaRPr lang="en-US" sz="1900" dirty="0"/>
          </a:p>
        </p:txBody>
      </p:sp>
      <p:sp>
        <p:nvSpPr>
          <p:cNvPr id="4" name="Shape 2"/>
          <p:cNvSpPr/>
          <p:nvPr/>
        </p:nvSpPr>
        <p:spPr>
          <a:xfrm>
            <a:off x="781812" y="3749040"/>
            <a:ext cx="1920240" cy="1005840"/>
          </a:xfrm>
          <a:prstGeom prst="rect">
            <a:avLst/>
          </a:prstGeom>
          <a:solidFill>
            <a:srgbClr val="E7EFE9"/>
          </a:solidFill>
          <a:ln w="12700">
            <a:solidFill>
              <a:srgbClr val="3E6E56"/>
            </a:solidFill>
            <a:prstDash val="solid"/>
          </a:ln>
        </p:spPr>
        <p:txBody>
          <a:bodyPr/>
          <a:lstStyle/>
          <a:p>
            <a:endParaRPr lang="en-IN"/>
          </a:p>
        </p:txBody>
      </p:sp>
      <p:sp>
        <p:nvSpPr>
          <p:cNvPr id="5" name="Text 3"/>
          <p:cNvSpPr txBox="1"/>
          <p:nvPr/>
        </p:nvSpPr>
        <p:spPr>
          <a:xfrm>
            <a:off x="781812" y="3749040"/>
            <a:ext cx="1920240" cy="100584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Feature</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Sequence</a:t>
            </a:r>
            <a:endParaRPr lang="en-US" sz="1400" dirty="0"/>
          </a:p>
        </p:txBody>
      </p:sp>
      <p:sp>
        <p:nvSpPr>
          <p:cNvPr id="6" name="Text 4"/>
          <p:cNvSpPr txBox="1"/>
          <p:nvPr/>
        </p:nvSpPr>
        <p:spPr>
          <a:xfrm>
            <a:off x="2702052" y="3749040"/>
            <a:ext cx="256032" cy="1005840"/>
          </a:xfrm>
          <a:prstGeom prst="rect">
            <a:avLst/>
          </a:prstGeom>
          <a:noFill/>
          <a:ln/>
        </p:spPr>
        <p:txBody>
          <a:bodyPr wrap="square" rtlCol="0" anchor="ctr"/>
          <a:lstStyle/>
          <a:p>
            <a:pPr marL="0" indent="0" algn="ctr">
              <a:buNone/>
            </a:pPr>
            <a:r>
              <a:rPr lang="en-US" sz="1600" dirty="0">
                <a:solidFill>
                  <a:srgbClr val="1A1A1A"/>
                </a:solidFill>
                <a:latin typeface="Arial" pitchFamily="34" charset="0"/>
                <a:ea typeface="Arial" pitchFamily="34" charset="-122"/>
                <a:cs typeface="Arial" pitchFamily="34" charset="-120"/>
              </a:rPr>
              <a:t>→</a:t>
            </a:r>
            <a:endParaRPr lang="en-US" sz="1600" dirty="0"/>
          </a:p>
        </p:txBody>
      </p:sp>
      <p:sp>
        <p:nvSpPr>
          <p:cNvPr id="7" name="Shape 5"/>
          <p:cNvSpPr/>
          <p:nvPr/>
        </p:nvSpPr>
        <p:spPr>
          <a:xfrm>
            <a:off x="2958084" y="3749040"/>
            <a:ext cx="1920240" cy="1005840"/>
          </a:xfrm>
          <a:prstGeom prst="rect">
            <a:avLst/>
          </a:prstGeom>
          <a:solidFill>
            <a:srgbClr val="E7EFE9"/>
          </a:solidFill>
          <a:ln w="12700">
            <a:solidFill>
              <a:srgbClr val="3E6E56"/>
            </a:solidFill>
            <a:prstDash val="solid"/>
          </a:ln>
        </p:spPr>
        <p:txBody>
          <a:bodyPr/>
          <a:lstStyle/>
          <a:p>
            <a:endParaRPr lang="en-IN"/>
          </a:p>
        </p:txBody>
      </p:sp>
      <p:sp>
        <p:nvSpPr>
          <p:cNvPr id="8" name="Text 6"/>
          <p:cNvSpPr txBox="1"/>
          <p:nvPr/>
        </p:nvSpPr>
        <p:spPr>
          <a:xfrm>
            <a:off x="2958084" y="3749040"/>
            <a:ext cx="1920240" cy="100584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Residual TCN</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Layers</a:t>
            </a:r>
            <a:endParaRPr lang="en-US" sz="1400" dirty="0"/>
          </a:p>
        </p:txBody>
      </p:sp>
      <p:sp>
        <p:nvSpPr>
          <p:cNvPr id="9" name="Text 7"/>
          <p:cNvSpPr txBox="1"/>
          <p:nvPr/>
        </p:nvSpPr>
        <p:spPr>
          <a:xfrm>
            <a:off x="4878324" y="3749040"/>
            <a:ext cx="256032" cy="1005840"/>
          </a:xfrm>
          <a:prstGeom prst="rect">
            <a:avLst/>
          </a:prstGeom>
          <a:noFill/>
          <a:ln/>
        </p:spPr>
        <p:txBody>
          <a:bodyPr wrap="square" rtlCol="0" anchor="ctr"/>
          <a:lstStyle/>
          <a:p>
            <a:pPr marL="0" indent="0" algn="ctr">
              <a:buNone/>
            </a:pPr>
            <a:r>
              <a:rPr lang="en-US" sz="1600" dirty="0">
                <a:solidFill>
                  <a:srgbClr val="1A1A1A"/>
                </a:solidFill>
                <a:latin typeface="Arial" pitchFamily="34" charset="0"/>
                <a:ea typeface="Arial" pitchFamily="34" charset="-122"/>
                <a:cs typeface="Arial" pitchFamily="34" charset="-120"/>
              </a:rPr>
              <a:t>→</a:t>
            </a:r>
            <a:endParaRPr lang="en-US" sz="1600" dirty="0"/>
          </a:p>
        </p:txBody>
      </p:sp>
      <p:sp>
        <p:nvSpPr>
          <p:cNvPr id="10" name="Shape 8"/>
          <p:cNvSpPr/>
          <p:nvPr/>
        </p:nvSpPr>
        <p:spPr>
          <a:xfrm>
            <a:off x="5134356" y="3749040"/>
            <a:ext cx="1920240" cy="1005840"/>
          </a:xfrm>
          <a:prstGeom prst="rect">
            <a:avLst/>
          </a:prstGeom>
          <a:solidFill>
            <a:srgbClr val="E7EFE9"/>
          </a:solidFill>
          <a:ln w="12700">
            <a:solidFill>
              <a:srgbClr val="3E6E56"/>
            </a:solidFill>
            <a:prstDash val="solid"/>
          </a:ln>
        </p:spPr>
        <p:txBody>
          <a:bodyPr/>
          <a:lstStyle/>
          <a:p>
            <a:endParaRPr lang="en-IN"/>
          </a:p>
        </p:txBody>
      </p:sp>
      <p:sp>
        <p:nvSpPr>
          <p:cNvPr id="11" name="Text 9"/>
          <p:cNvSpPr txBox="1"/>
          <p:nvPr/>
        </p:nvSpPr>
        <p:spPr>
          <a:xfrm>
            <a:off x="5134356" y="3749040"/>
            <a:ext cx="1920240" cy="100584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Adaptive</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Dilation</a:t>
            </a:r>
            <a:endParaRPr lang="en-US" sz="1400" dirty="0"/>
          </a:p>
        </p:txBody>
      </p:sp>
      <p:sp>
        <p:nvSpPr>
          <p:cNvPr id="12" name="Text 10"/>
          <p:cNvSpPr txBox="1"/>
          <p:nvPr/>
        </p:nvSpPr>
        <p:spPr>
          <a:xfrm>
            <a:off x="7054596" y="3749040"/>
            <a:ext cx="256032" cy="1005840"/>
          </a:xfrm>
          <a:prstGeom prst="rect">
            <a:avLst/>
          </a:prstGeom>
          <a:noFill/>
          <a:ln/>
        </p:spPr>
        <p:txBody>
          <a:bodyPr wrap="square" rtlCol="0" anchor="ctr"/>
          <a:lstStyle/>
          <a:p>
            <a:pPr marL="0" indent="0" algn="ctr">
              <a:buNone/>
            </a:pPr>
            <a:r>
              <a:rPr lang="en-US" sz="1600" dirty="0">
                <a:solidFill>
                  <a:srgbClr val="1A1A1A"/>
                </a:solidFill>
                <a:latin typeface="Arial" pitchFamily="34" charset="0"/>
                <a:ea typeface="Arial" pitchFamily="34" charset="-122"/>
                <a:cs typeface="Arial" pitchFamily="34" charset="-120"/>
              </a:rPr>
              <a:t>→</a:t>
            </a:r>
            <a:endParaRPr lang="en-US" sz="1600" dirty="0"/>
          </a:p>
        </p:txBody>
      </p:sp>
      <p:sp>
        <p:nvSpPr>
          <p:cNvPr id="13" name="Shape 11"/>
          <p:cNvSpPr/>
          <p:nvPr/>
        </p:nvSpPr>
        <p:spPr>
          <a:xfrm>
            <a:off x="7310628" y="3749040"/>
            <a:ext cx="1920240" cy="1005840"/>
          </a:xfrm>
          <a:prstGeom prst="rect">
            <a:avLst/>
          </a:prstGeom>
          <a:solidFill>
            <a:srgbClr val="E7EFE9"/>
          </a:solidFill>
          <a:ln w="12700">
            <a:solidFill>
              <a:srgbClr val="3E6E56"/>
            </a:solidFill>
            <a:prstDash val="solid"/>
          </a:ln>
        </p:spPr>
        <p:txBody>
          <a:bodyPr/>
          <a:lstStyle/>
          <a:p>
            <a:endParaRPr lang="en-IN"/>
          </a:p>
        </p:txBody>
      </p:sp>
      <p:sp>
        <p:nvSpPr>
          <p:cNvPr id="14" name="Text 12"/>
          <p:cNvSpPr txBox="1"/>
          <p:nvPr/>
        </p:nvSpPr>
        <p:spPr>
          <a:xfrm>
            <a:off x="7310628" y="3749040"/>
            <a:ext cx="1920240" cy="100584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Gated Linear</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Units (GLU)</a:t>
            </a:r>
            <a:endParaRPr lang="en-US" sz="1400" dirty="0"/>
          </a:p>
        </p:txBody>
      </p:sp>
      <p:sp>
        <p:nvSpPr>
          <p:cNvPr id="15" name="Text 13"/>
          <p:cNvSpPr txBox="1"/>
          <p:nvPr/>
        </p:nvSpPr>
        <p:spPr>
          <a:xfrm>
            <a:off x="9230868" y="3749040"/>
            <a:ext cx="256032" cy="1005840"/>
          </a:xfrm>
          <a:prstGeom prst="rect">
            <a:avLst/>
          </a:prstGeom>
          <a:noFill/>
          <a:ln/>
        </p:spPr>
        <p:txBody>
          <a:bodyPr wrap="square" rtlCol="0" anchor="ctr"/>
          <a:lstStyle/>
          <a:p>
            <a:pPr marL="0" indent="0" algn="ctr">
              <a:buNone/>
            </a:pPr>
            <a:r>
              <a:rPr lang="en-US" sz="1600" dirty="0">
                <a:solidFill>
                  <a:srgbClr val="1A1A1A"/>
                </a:solidFill>
                <a:latin typeface="Arial" pitchFamily="34" charset="0"/>
                <a:ea typeface="Arial" pitchFamily="34" charset="-122"/>
                <a:cs typeface="Arial" pitchFamily="34" charset="-120"/>
              </a:rPr>
              <a:t>→</a:t>
            </a:r>
            <a:endParaRPr lang="en-US" sz="1600" dirty="0"/>
          </a:p>
        </p:txBody>
      </p:sp>
      <p:sp>
        <p:nvSpPr>
          <p:cNvPr id="16" name="Shape 14"/>
          <p:cNvSpPr/>
          <p:nvPr/>
        </p:nvSpPr>
        <p:spPr>
          <a:xfrm>
            <a:off x="9486900" y="3749040"/>
            <a:ext cx="1920240" cy="1005840"/>
          </a:xfrm>
          <a:prstGeom prst="rect">
            <a:avLst/>
          </a:prstGeom>
          <a:solidFill>
            <a:srgbClr val="E7EFE9"/>
          </a:solidFill>
          <a:ln w="12700">
            <a:solidFill>
              <a:srgbClr val="3E6E56"/>
            </a:solidFill>
            <a:prstDash val="solid"/>
          </a:ln>
        </p:spPr>
        <p:txBody>
          <a:bodyPr/>
          <a:lstStyle/>
          <a:p>
            <a:endParaRPr lang="en-IN"/>
          </a:p>
        </p:txBody>
      </p:sp>
      <p:sp>
        <p:nvSpPr>
          <p:cNvPr id="17" name="Text 15"/>
          <p:cNvSpPr txBox="1"/>
          <p:nvPr/>
        </p:nvSpPr>
        <p:spPr>
          <a:xfrm>
            <a:off x="9486900" y="3749040"/>
            <a:ext cx="1920240" cy="100584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Temporal</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Logit</a:t>
            </a:r>
            <a:endParaRPr lang="en-US" sz="1400" dirty="0"/>
          </a:p>
        </p:txBody>
      </p:sp>
      <p:sp>
        <p:nvSpPr>
          <p:cNvPr id="18" name="Slide Number 18"/>
          <p:cNvSpPr txBox="1"/>
          <p:nvPr/>
        </p:nvSpPr>
        <p:spPr>
          <a:xfrm>
            <a:off x="11150000" y="6430000"/>
            <a:ext cx="700000" cy="280000"/>
          </a:xfrm>
          <a:prstGeom prst="rect">
            <a:avLst/>
          </a:prstGeom>
          <a:noFill/>
        </p:spPr>
        <p:txBody>
          <a:bodyPr wrap="none" lIns="0" tIns="0" rIns="0" bIns="0" anchor="ctr"/>
          <a:lstStyle/>
          <a:p>
            <a:pPr algn="r"/>
            <a:fld id="{B6F15528-21DE-4FAA-801E-634DDDAF4B2B}" type="slidenum">
              <a:rPr lang="en-US" sz="1200" b="1">
                <a:solidFill>
                  <a:srgbClr val="595959"/>
                </a:solidFill>
              </a:rPr>
              <a:t>14</a:t>
            </a:fld>
            <a:endParaRPr 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0040"/>
            <a:ext cx="110642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3000" b="1">
                <a:solidFill>
                  <a:srgbClr val="1A1A1A"/>
                </a:solidFill>
                <a:latin typeface="Times New Roman"/>
              </a:rPr>
              <a:t>TCN: Dilated Convolution and Gating</a:t>
            </a:r>
          </a:p>
        </p:txBody>
      </p:sp>
      <p:sp>
        <p:nvSpPr>
          <p:cNvPr id="3" name="Slide Number"/>
          <p:cNvSpPr/>
          <p:nvPr/>
        </p:nvSpPr>
        <p:spPr>
          <a:xfrm>
            <a:off x="11155680" y="6428232"/>
            <a:ext cx="731520" cy="2834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r"/>
            <a:r>
              <a:rPr sz="1200" b="0">
                <a:solidFill>
                  <a:srgbClr val="595959"/>
                </a:solidFill>
                <a:latin typeface="Arial"/>
              </a:rPr>
              <a:t>15</a:t>
            </a:r>
          </a:p>
        </p:txBody>
      </p:sp>
      <p:sp>
        <p:nvSpPr>
          <p:cNvPr id="4" name="Rectangle 3"/>
          <p:cNvSpPr/>
          <p:nvPr/>
        </p:nvSpPr>
        <p:spPr>
          <a:xfrm>
            <a:off x="640080" y="1097280"/>
            <a:ext cx="1088136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600" b="0">
                <a:solidFill>
                  <a:srgbClr val="1A1A1A"/>
                </a:solidFill>
                <a:latin typeface="Arial"/>
              </a:rPr>
              <a:t>Temporal inconsistencies of a fake video are captured by dilated causal convolutions over the sequence of segment features, controlled by gates.</a:t>
            </a:r>
          </a:p>
        </p:txBody>
      </p:sp>
      <p:sp>
        <p:nvSpPr>
          <p:cNvPr id="5" name="Rectangle 4"/>
          <p:cNvSpPr/>
          <p:nvPr/>
        </p:nvSpPr>
        <p:spPr>
          <a:xfrm>
            <a:off x="822960" y="1920240"/>
            <a:ext cx="10515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300" b="1">
                <a:solidFill>
                  <a:srgbClr val="3E6E56"/>
                </a:solidFill>
                <a:latin typeface="Arial"/>
              </a:rPr>
              <a:t>Eq. (7)  Dilated temporal convolution</a:t>
            </a:r>
          </a:p>
        </p:txBody>
      </p:sp>
      <p:sp>
        <p:nvSpPr>
          <p:cNvPr id="6" name="Rectangle 5"/>
          <p:cNvSpPr/>
          <p:nvPr/>
        </p:nvSpPr>
        <p:spPr>
          <a:xfrm>
            <a:off x="822960" y="2212848"/>
            <a:ext cx="1051560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800" b="0" dirty="0" err="1">
                <a:solidFill>
                  <a:srgbClr val="1A1A1A"/>
                </a:solidFill>
                <a:latin typeface="Courier New"/>
              </a:rPr>
              <a:t>Ht</a:t>
            </a:r>
            <a:r>
              <a:rPr sz="1800" b="0" dirty="0">
                <a:solidFill>
                  <a:srgbClr val="1A1A1A"/>
                </a:solidFill>
                <a:latin typeface="Courier New"/>
              </a:rPr>
              <a:t> = SUM (</a:t>
            </a:r>
            <a:r>
              <a:rPr sz="1800" b="0" dirty="0" err="1">
                <a:solidFill>
                  <a:srgbClr val="1A1A1A"/>
                </a:solidFill>
                <a:latin typeface="Courier New"/>
              </a:rPr>
              <a:t>i</a:t>
            </a:r>
            <a:r>
              <a:rPr sz="1800" b="0" dirty="0">
                <a:solidFill>
                  <a:srgbClr val="1A1A1A"/>
                </a:solidFill>
                <a:latin typeface="Courier New"/>
              </a:rPr>
              <a:t> = 0 to k-1) Wi . F(t - </a:t>
            </a:r>
            <a:r>
              <a:rPr sz="1800" b="0" dirty="0" err="1">
                <a:solidFill>
                  <a:srgbClr val="1A1A1A"/>
                </a:solidFill>
                <a:latin typeface="Courier New"/>
              </a:rPr>
              <a:t>i</a:t>
            </a:r>
            <a:r>
              <a:rPr sz="1800" b="0" dirty="0">
                <a:solidFill>
                  <a:srgbClr val="1A1A1A"/>
                </a:solidFill>
                <a:latin typeface="Courier New"/>
              </a:rPr>
              <a:t>*d)</a:t>
            </a:r>
          </a:p>
        </p:txBody>
      </p:sp>
      <p:sp>
        <p:nvSpPr>
          <p:cNvPr id="7" name="Rectangle 6"/>
          <p:cNvSpPr/>
          <p:nvPr/>
        </p:nvSpPr>
        <p:spPr>
          <a:xfrm>
            <a:off x="822960" y="2697480"/>
            <a:ext cx="105156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400" b="0">
                <a:solidFill>
                  <a:srgbClr val="1A1A1A"/>
                </a:solidFill>
                <a:latin typeface="Arial"/>
              </a:rPr>
              <a:t>Wi = learnable weights, k = filter size, F = feature vector, d = dilation rate. Larger d covers longer time spans (adaptive dilation).</a:t>
            </a:r>
          </a:p>
        </p:txBody>
      </p:sp>
      <p:sp>
        <p:nvSpPr>
          <p:cNvPr id="8" name="Rectangle 7"/>
          <p:cNvSpPr/>
          <p:nvPr/>
        </p:nvSpPr>
        <p:spPr>
          <a:xfrm>
            <a:off x="822960" y="3337560"/>
            <a:ext cx="105156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300" b="1">
                <a:solidFill>
                  <a:srgbClr val="3E6E56"/>
                </a:solidFill>
                <a:latin typeface="Arial"/>
              </a:rPr>
              <a:t>Eq. (8)  Gated Linear Unit (GLU)</a:t>
            </a:r>
          </a:p>
        </p:txBody>
      </p:sp>
      <p:sp>
        <p:nvSpPr>
          <p:cNvPr id="9" name="Rectangle 8"/>
          <p:cNvSpPr/>
          <p:nvPr/>
        </p:nvSpPr>
        <p:spPr>
          <a:xfrm>
            <a:off x="822960" y="3630168"/>
            <a:ext cx="10515600" cy="4572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800" b="0">
                <a:solidFill>
                  <a:srgbClr val="1A1A1A"/>
                </a:solidFill>
                <a:latin typeface="Courier New"/>
              </a:rPr>
              <a:t>O = X . sigmoid(G)</a:t>
            </a:r>
          </a:p>
        </p:txBody>
      </p:sp>
      <p:sp>
        <p:nvSpPr>
          <p:cNvPr id="10" name="Rectangle 9"/>
          <p:cNvSpPr/>
          <p:nvPr/>
        </p:nvSpPr>
        <p:spPr>
          <a:xfrm>
            <a:off x="822960" y="4114800"/>
            <a:ext cx="105156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l"/>
            <a:r>
              <a:rPr sz="1400" b="0">
                <a:solidFill>
                  <a:srgbClr val="1A1A1A"/>
                </a:solidFill>
                <a:latin typeface="Arial"/>
              </a:rPr>
              <a:t>G is the gate signal; sigmoid(G) decides how much of X passes, so the network focuses on subtle temporal deviations such as erratic face movement.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1091672" cy="731520"/>
          </a:xfrm>
          <a:prstGeom prst="rect">
            <a:avLst/>
          </a:prstGeom>
          <a:noFill/>
          <a:ln/>
        </p:spPr>
        <p:txBody>
          <a:bodyPr wrap="square" rtlCol="0" anchor="ctr"/>
          <a:lstStyle/>
          <a:p>
            <a:pPr marL="0" indent="0" algn="l">
              <a:buNone/>
            </a:pPr>
            <a:r>
              <a:rPr lang="en-US" sz="3000" b="1" dirty="0">
                <a:solidFill>
                  <a:srgbClr val="1A1A1A"/>
                </a:solidFill>
                <a:latin typeface="Times New Roman" pitchFamily="34" charset="0"/>
                <a:ea typeface="Times New Roman" pitchFamily="34" charset="-122"/>
                <a:cs typeface="Times New Roman" pitchFamily="34" charset="-120"/>
              </a:rPr>
              <a:t>Classification &amp; Majority Voting</a:t>
            </a:r>
            <a:endParaRPr lang="en-US" sz="3000" dirty="0"/>
          </a:p>
        </p:txBody>
      </p:sp>
      <p:sp>
        <p:nvSpPr>
          <p:cNvPr id="3" name="Text 1"/>
          <p:cNvSpPr txBox="1"/>
          <p:nvPr/>
        </p:nvSpPr>
        <p:spPr>
          <a:xfrm>
            <a:off x="640080" y="1143000"/>
            <a:ext cx="10908792" cy="2103120"/>
          </a:xfrm>
          <a:prstGeom prst="rect">
            <a:avLst/>
          </a:prstGeom>
          <a:noFill/>
          <a:ln/>
        </p:spPr>
        <p:txBody>
          <a:bodyPr wrap="square" rtlCol="0" anchor="ctr"/>
          <a:lstStyle/>
          <a:p>
            <a:pPr marL="0" indent="0">
              <a:buNone/>
            </a:pPr>
            <a:r>
              <a:rPr lang="en-US" sz="1900" dirty="0">
                <a:solidFill>
                  <a:srgbClr val="1A1A1A"/>
                </a:solidFill>
                <a:latin typeface="Arial" pitchFamily="34" charset="0"/>
                <a:ea typeface="Arial" pitchFamily="34" charset="-122"/>
                <a:cs typeface="Arial" pitchFamily="34" charset="-120"/>
              </a:rPr>
              <a:t>Each segment's TCN output passes through a linear classification layer to produce a single logit. Binary Cross-Entropy loss keeps training focused on the hardest, most subtle cases. Predictions from every segment are then combined by majority vote, together with a confidence score, to reach the final Real / Fake decision for the whole video.</a:t>
            </a:r>
            <a:endParaRPr lang="en-US" sz="1900" dirty="0"/>
          </a:p>
        </p:txBody>
      </p:sp>
      <p:sp>
        <p:nvSpPr>
          <p:cNvPr id="4" name="Shape 2"/>
          <p:cNvSpPr/>
          <p:nvPr/>
        </p:nvSpPr>
        <p:spPr>
          <a:xfrm>
            <a:off x="548640" y="3931920"/>
            <a:ext cx="2057400" cy="1188720"/>
          </a:xfrm>
          <a:prstGeom prst="rect">
            <a:avLst/>
          </a:prstGeom>
          <a:solidFill>
            <a:srgbClr val="E7EFE9"/>
          </a:solidFill>
          <a:ln w="12700">
            <a:solidFill>
              <a:srgbClr val="3E6E56"/>
            </a:solidFill>
            <a:prstDash val="solid"/>
          </a:ln>
        </p:spPr>
        <p:txBody>
          <a:bodyPr/>
          <a:lstStyle/>
          <a:p>
            <a:endParaRPr lang="en-IN"/>
          </a:p>
        </p:txBody>
      </p:sp>
      <p:sp>
        <p:nvSpPr>
          <p:cNvPr id="5" name="Text 3"/>
          <p:cNvSpPr txBox="1"/>
          <p:nvPr/>
        </p:nvSpPr>
        <p:spPr>
          <a:xfrm>
            <a:off x="548640" y="3931920"/>
            <a:ext cx="2057400" cy="118872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Per-Segment</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Logit</a:t>
            </a:r>
            <a:endParaRPr lang="en-US" sz="1400" dirty="0"/>
          </a:p>
        </p:txBody>
      </p:sp>
      <p:sp>
        <p:nvSpPr>
          <p:cNvPr id="6" name="Text 4"/>
          <p:cNvSpPr txBox="1"/>
          <p:nvPr/>
        </p:nvSpPr>
        <p:spPr>
          <a:xfrm>
            <a:off x="2606040" y="3931920"/>
            <a:ext cx="201168" cy="118872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a:t>
            </a:r>
            <a:endParaRPr lang="en-US" sz="1400" dirty="0"/>
          </a:p>
        </p:txBody>
      </p:sp>
      <p:sp>
        <p:nvSpPr>
          <p:cNvPr id="7" name="Shape 5"/>
          <p:cNvSpPr/>
          <p:nvPr/>
        </p:nvSpPr>
        <p:spPr>
          <a:xfrm>
            <a:off x="2807208" y="3931920"/>
            <a:ext cx="2057400" cy="1188720"/>
          </a:xfrm>
          <a:prstGeom prst="rect">
            <a:avLst/>
          </a:prstGeom>
          <a:solidFill>
            <a:srgbClr val="E7EFE9"/>
          </a:solidFill>
          <a:ln w="12700">
            <a:solidFill>
              <a:srgbClr val="3E6E56"/>
            </a:solidFill>
            <a:prstDash val="solid"/>
          </a:ln>
        </p:spPr>
        <p:txBody>
          <a:bodyPr/>
          <a:lstStyle/>
          <a:p>
            <a:endParaRPr lang="en-IN"/>
          </a:p>
        </p:txBody>
      </p:sp>
      <p:sp>
        <p:nvSpPr>
          <p:cNvPr id="8" name="Text 6"/>
          <p:cNvSpPr txBox="1"/>
          <p:nvPr/>
        </p:nvSpPr>
        <p:spPr>
          <a:xfrm>
            <a:off x="2807208" y="3931920"/>
            <a:ext cx="2057400" cy="118872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Sigmoid</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Probability</a:t>
            </a:r>
            <a:endParaRPr lang="en-US" sz="1400" dirty="0"/>
          </a:p>
        </p:txBody>
      </p:sp>
      <p:sp>
        <p:nvSpPr>
          <p:cNvPr id="9" name="Text 7"/>
          <p:cNvSpPr txBox="1"/>
          <p:nvPr/>
        </p:nvSpPr>
        <p:spPr>
          <a:xfrm>
            <a:off x="4864608" y="3931920"/>
            <a:ext cx="201168" cy="118872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a:t>
            </a:r>
            <a:endParaRPr lang="en-US" sz="1400" dirty="0"/>
          </a:p>
        </p:txBody>
      </p:sp>
      <p:sp>
        <p:nvSpPr>
          <p:cNvPr id="10" name="Shape 8"/>
          <p:cNvSpPr/>
          <p:nvPr/>
        </p:nvSpPr>
        <p:spPr>
          <a:xfrm>
            <a:off x="5065776" y="3931920"/>
            <a:ext cx="2057400" cy="1188720"/>
          </a:xfrm>
          <a:prstGeom prst="rect">
            <a:avLst/>
          </a:prstGeom>
          <a:solidFill>
            <a:srgbClr val="E7EFE9"/>
          </a:solidFill>
          <a:ln w="12700">
            <a:solidFill>
              <a:srgbClr val="3E6E56"/>
            </a:solidFill>
            <a:prstDash val="solid"/>
          </a:ln>
        </p:spPr>
        <p:txBody>
          <a:bodyPr/>
          <a:lstStyle/>
          <a:p>
            <a:endParaRPr lang="en-IN"/>
          </a:p>
        </p:txBody>
      </p:sp>
      <p:sp>
        <p:nvSpPr>
          <p:cNvPr id="11" name="Text 9"/>
          <p:cNvSpPr txBox="1"/>
          <p:nvPr/>
        </p:nvSpPr>
        <p:spPr>
          <a:xfrm>
            <a:off x="5065776" y="3931920"/>
            <a:ext cx="2057400" cy="118872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Threshold</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 0.5</a:t>
            </a:r>
            <a:endParaRPr lang="en-US" sz="1400" dirty="0"/>
          </a:p>
        </p:txBody>
      </p:sp>
      <p:sp>
        <p:nvSpPr>
          <p:cNvPr id="12" name="Text 10"/>
          <p:cNvSpPr txBox="1"/>
          <p:nvPr/>
        </p:nvSpPr>
        <p:spPr>
          <a:xfrm>
            <a:off x="7123176" y="3931920"/>
            <a:ext cx="201168" cy="118872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7324344" y="3931920"/>
            <a:ext cx="2057400" cy="1188720"/>
          </a:xfrm>
          <a:prstGeom prst="rect">
            <a:avLst/>
          </a:prstGeom>
          <a:solidFill>
            <a:srgbClr val="E7EFE9"/>
          </a:solidFill>
          <a:ln w="12700">
            <a:solidFill>
              <a:srgbClr val="3E6E56"/>
            </a:solidFill>
            <a:prstDash val="solid"/>
          </a:ln>
        </p:spPr>
        <p:txBody>
          <a:bodyPr/>
          <a:lstStyle/>
          <a:p>
            <a:endParaRPr lang="en-IN"/>
          </a:p>
        </p:txBody>
      </p:sp>
      <p:sp>
        <p:nvSpPr>
          <p:cNvPr id="14" name="Text 12"/>
          <p:cNvSpPr txBox="1"/>
          <p:nvPr/>
        </p:nvSpPr>
        <p:spPr>
          <a:xfrm>
            <a:off x="7324344" y="3931920"/>
            <a:ext cx="2057400" cy="118872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Majority Vote</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Across Segments</a:t>
            </a:r>
            <a:endParaRPr lang="en-US" sz="1400" dirty="0"/>
          </a:p>
        </p:txBody>
      </p:sp>
      <p:sp>
        <p:nvSpPr>
          <p:cNvPr id="15" name="Text 13"/>
          <p:cNvSpPr txBox="1"/>
          <p:nvPr/>
        </p:nvSpPr>
        <p:spPr>
          <a:xfrm>
            <a:off x="9381744" y="3931920"/>
            <a:ext cx="201168" cy="118872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a:t>
            </a:r>
            <a:endParaRPr lang="en-US" sz="1400" dirty="0"/>
          </a:p>
        </p:txBody>
      </p:sp>
      <p:sp>
        <p:nvSpPr>
          <p:cNvPr id="16" name="Shape 14"/>
          <p:cNvSpPr/>
          <p:nvPr/>
        </p:nvSpPr>
        <p:spPr>
          <a:xfrm>
            <a:off x="9582912" y="3931920"/>
            <a:ext cx="2057400" cy="1188720"/>
          </a:xfrm>
          <a:prstGeom prst="rect">
            <a:avLst/>
          </a:prstGeom>
          <a:solidFill>
            <a:srgbClr val="E7EFE9"/>
          </a:solidFill>
          <a:ln w="12700">
            <a:solidFill>
              <a:srgbClr val="3E6E56"/>
            </a:solidFill>
            <a:prstDash val="solid"/>
          </a:ln>
        </p:spPr>
        <p:txBody>
          <a:bodyPr/>
          <a:lstStyle/>
          <a:p>
            <a:endParaRPr lang="en-IN"/>
          </a:p>
        </p:txBody>
      </p:sp>
      <p:sp>
        <p:nvSpPr>
          <p:cNvPr id="17" name="Text 15"/>
          <p:cNvSpPr txBox="1"/>
          <p:nvPr/>
        </p:nvSpPr>
        <p:spPr>
          <a:xfrm>
            <a:off x="9582912" y="3931920"/>
            <a:ext cx="2057400" cy="1188720"/>
          </a:xfrm>
          <a:prstGeom prst="rect">
            <a:avLst/>
          </a:prstGeom>
          <a:noFill/>
          <a:ln/>
        </p:spPr>
        <p:txBody>
          <a:bodyPr wrap="square" rtlCol="0" anchor="ctr"/>
          <a:lstStyle/>
          <a:p>
            <a:pPr marL="0" indent="0" algn="ctr">
              <a:buNone/>
            </a:pPr>
            <a:r>
              <a:rPr lang="en-US" sz="1400" dirty="0">
                <a:solidFill>
                  <a:srgbClr val="1A1A1A"/>
                </a:solidFill>
                <a:latin typeface="Arial" pitchFamily="34" charset="0"/>
                <a:ea typeface="Arial" pitchFamily="34" charset="-122"/>
                <a:cs typeface="Arial" pitchFamily="34" charset="-120"/>
              </a:rPr>
              <a:t>Final Label +</a:t>
            </a:r>
            <a:endParaRPr lang="en-US" sz="1400" dirty="0"/>
          </a:p>
          <a:p>
            <a:pPr marL="0" indent="0" algn="ctr">
              <a:buNone/>
            </a:pPr>
            <a:r>
              <a:rPr lang="en-US" sz="1400" dirty="0">
                <a:solidFill>
                  <a:srgbClr val="1A1A1A"/>
                </a:solidFill>
                <a:latin typeface="Arial" pitchFamily="34" charset="0"/>
                <a:ea typeface="Arial" pitchFamily="34" charset="-122"/>
                <a:cs typeface="Arial" pitchFamily="34" charset="-120"/>
              </a:rPr>
              <a:t>Confidence Score</a:t>
            </a:r>
            <a:endParaRPr lang="en-US" sz="1400" dirty="0"/>
          </a:p>
        </p:txBody>
      </p:sp>
      <p:sp>
        <p:nvSpPr>
          <p:cNvPr id="18" name="Slide Number 18"/>
          <p:cNvSpPr txBox="1"/>
          <p:nvPr/>
        </p:nvSpPr>
        <p:spPr>
          <a:xfrm>
            <a:off x="11150000" y="6430000"/>
            <a:ext cx="700000" cy="280000"/>
          </a:xfrm>
          <a:prstGeom prst="rect">
            <a:avLst/>
          </a:prstGeom>
          <a:noFill/>
        </p:spPr>
        <p:txBody>
          <a:bodyPr wrap="none" lIns="0" tIns="0" rIns="0" bIns="0" anchor="ctr"/>
          <a:lstStyle/>
          <a:p>
            <a:pPr algn="r"/>
            <a:fld id="{B6F15528-21DE-4FAA-801E-634DDDAF4B2B}" type="slidenum">
              <a:rPr lang="en-US" sz="1200" b="1">
                <a:solidFill>
                  <a:srgbClr val="595959"/>
                </a:solidFill>
              </a:rPr>
              <a:t>16</a:t>
            </a:fld>
            <a:endParaRPr lang="en-US" sz="12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63880" y="214884"/>
            <a:ext cx="110642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n-IN" sz="3000" b="1">
                <a:solidFill>
                  <a:srgbClr val="1A1A1A"/>
                </a:solidFill>
                <a:latin typeface="Times New Roman"/>
              </a:rPr>
              <a:t>Confusion Matrix &amp; Computational Efficiency</a:t>
            </a:r>
            <a:endParaRPr lang="en-IN" sz="3000" b="1" dirty="0">
              <a:solidFill>
                <a:srgbClr val="1A1A1A"/>
              </a:solidFill>
              <a:latin typeface="Times New Roman"/>
            </a:endParaRPr>
          </a:p>
        </p:txBody>
      </p:sp>
      <p:sp>
        <p:nvSpPr>
          <p:cNvPr id="3" name="Slide Number"/>
          <p:cNvSpPr/>
          <p:nvPr/>
        </p:nvSpPr>
        <p:spPr>
          <a:xfrm>
            <a:off x="11155680" y="6428232"/>
            <a:ext cx="731520" cy="2834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r"/>
            <a:r>
              <a:rPr lang="en-IN" sz="1200" b="0">
                <a:solidFill>
                  <a:srgbClr val="595959"/>
                </a:solidFill>
                <a:latin typeface="Arial"/>
              </a:rPr>
              <a:t>17</a:t>
            </a:r>
          </a:p>
        </p:txBody>
      </p:sp>
      <p:sp>
        <p:nvSpPr>
          <p:cNvPr id="4" name="TextBox 3"/>
          <p:cNvSpPr txBox="1"/>
          <p:nvPr/>
        </p:nvSpPr>
        <p:spPr>
          <a:xfrm>
            <a:off x="566928" y="1280160"/>
            <a:ext cx="6400800" cy="4754880"/>
          </a:xfrm>
          <a:prstGeom prst="rect">
            <a:avLst/>
          </a:prstGeom>
          <a:noFill/>
        </p:spPr>
        <p:txBody>
          <a:bodyPr wrap="square">
            <a:spAutoFit/>
          </a:bodyPr>
          <a:lstStyle/>
          <a:p>
            <a:pPr marL="342900" indent="-342900">
              <a:spcAft>
                <a:spcPts val="1600"/>
              </a:spcAft>
              <a:buFont typeface="Arial"/>
              <a:buChar char="•"/>
            </a:pPr>
            <a:r>
              <a:rPr sz="2000" b="1">
                <a:solidFill>
                  <a:srgbClr val="1A1A1A"/>
                </a:solidFill>
                <a:latin typeface="Calibri"/>
              </a:rPr>
              <a:t>0.45 GFLOPs</a:t>
            </a:r>
            <a:r>
              <a:rPr sz="2000" b="0">
                <a:solidFill>
                  <a:srgbClr val="1A1A1A"/>
                </a:solidFill>
                <a:latin typeface="Calibri"/>
              </a:rPr>
              <a:t> → very low computational cost</a:t>
            </a:r>
          </a:p>
          <a:p>
            <a:pPr marL="342900" indent="-342900">
              <a:spcAft>
                <a:spcPts val="1600"/>
              </a:spcAft>
              <a:buFont typeface="Arial"/>
              <a:buChar char="•"/>
            </a:pPr>
            <a:r>
              <a:rPr sz="2000" b="1">
                <a:solidFill>
                  <a:srgbClr val="1A1A1A"/>
                </a:solidFill>
                <a:latin typeface="Calibri"/>
              </a:rPr>
              <a:t>MBConv + depthwise separable convolutions</a:t>
            </a:r>
            <a:r>
              <a:rPr sz="2000" b="0">
                <a:solidFill>
                  <a:srgbClr val="1A1A1A"/>
                </a:solidFill>
                <a:latin typeface="Calibri"/>
              </a:rPr>
              <a:t> → fewer operations</a:t>
            </a:r>
          </a:p>
          <a:p>
            <a:pPr marL="342900" indent="-342900">
              <a:spcAft>
                <a:spcPts val="1600"/>
              </a:spcAft>
              <a:buFont typeface="Arial"/>
              <a:buChar char="•"/>
            </a:pPr>
            <a:r>
              <a:rPr sz="2000" b="1">
                <a:solidFill>
                  <a:srgbClr val="1A1A1A"/>
                </a:solidFill>
                <a:latin typeface="Calibri"/>
              </a:rPr>
              <a:t>FPN feature reuse</a:t>
            </a:r>
            <a:r>
              <a:rPr sz="2000" b="0">
                <a:solidFill>
                  <a:srgbClr val="1A1A1A"/>
                </a:solidFill>
                <a:latin typeface="Calibri"/>
              </a:rPr>
              <a:t> → reduces redundant computation</a:t>
            </a:r>
          </a:p>
          <a:p>
            <a:pPr marL="342900" indent="-342900">
              <a:spcAft>
                <a:spcPts val="1600"/>
              </a:spcAft>
              <a:buFont typeface="Arial"/>
              <a:buChar char="•"/>
            </a:pPr>
            <a:r>
              <a:rPr sz="2000" b="1">
                <a:solidFill>
                  <a:srgbClr val="1A1A1A"/>
                </a:solidFill>
                <a:latin typeface="Calibri"/>
              </a:rPr>
              <a:t>Dynamic input scaling</a:t>
            </a:r>
            <a:r>
              <a:rPr sz="2000" b="0">
                <a:solidFill>
                  <a:srgbClr val="1A1A1A"/>
                </a:solidFill>
                <a:latin typeface="Calibri"/>
              </a:rPr>
              <a:t> → higher resolution only when needed</a:t>
            </a:r>
          </a:p>
          <a:p>
            <a:pPr marL="342900" indent="-342900">
              <a:spcAft>
                <a:spcPts val="1600"/>
              </a:spcAft>
              <a:buFont typeface="Arial"/>
              <a:buChar char="•"/>
            </a:pPr>
            <a:r>
              <a:rPr sz="2000" b="1">
                <a:solidFill>
                  <a:srgbClr val="1A1A1A"/>
                </a:solidFill>
                <a:latin typeface="Calibri"/>
              </a:rPr>
              <a:t>Adaptive TCN dilation</a:t>
            </a:r>
            <a:r>
              <a:rPr sz="2000" b="0">
                <a:solidFill>
                  <a:srgbClr val="1A1A1A"/>
                </a:solidFill>
                <a:latin typeface="Calibri"/>
              </a:rPr>
              <a:t> → captures temporal information efficiently</a:t>
            </a:r>
          </a:p>
        </p:txBody>
      </p:sp>
      <p:pic>
        <p:nvPicPr>
          <p:cNvPr id="5" name="Picture 4" descr="image.png"/>
          <p:cNvPicPr>
            <a:picLocks noChangeAspect="1"/>
          </p:cNvPicPr>
          <p:nvPr/>
        </p:nvPicPr>
        <p:blipFill>
          <a:blip r:embed="rId2"/>
          <a:stretch>
            <a:fillRect/>
          </a:stretch>
        </p:blipFill>
        <p:spPr>
          <a:xfrm>
            <a:off x="7315200" y="1280160"/>
            <a:ext cx="4297680" cy="3338376"/>
          </a:xfrm>
          <a:prstGeom prst="rect">
            <a:avLst/>
          </a:prstGeom>
        </p:spPr>
      </p:pic>
      <p:sp>
        <p:nvSpPr>
          <p:cNvPr id="6" name="TextBox 5"/>
          <p:cNvSpPr txBox="1"/>
          <p:nvPr/>
        </p:nvSpPr>
        <p:spPr>
          <a:xfrm>
            <a:off x="7315200" y="4709976"/>
            <a:ext cx="4297680" cy="914400"/>
          </a:xfrm>
          <a:prstGeom prst="rect">
            <a:avLst/>
          </a:prstGeom>
          <a:noFill/>
        </p:spPr>
        <p:txBody>
          <a:bodyPr wrap="square">
            <a:spAutoFit/>
          </a:bodyPr>
          <a:lstStyle/>
          <a:p>
            <a:pPr algn="ctr">
              <a:spcAft>
                <a:spcPts val="200"/>
              </a:spcAft>
            </a:pPr>
            <a:r>
              <a:rPr sz="1600" b="1">
                <a:solidFill>
                  <a:srgbClr val="1A1A1A"/>
                </a:solidFill>
                <a:latin typeface="Calibri"/>
              </a:rPr>
              <a:t>Confusion matrix (test set)</a:t>
            </a:r>
          </a:p>
          <a:p>
            <a:pPr algn="ctr">
              <a:spcAft>
                <a:spcPts val="200"/>
              </a:spcAft>
            </a:pPr>
            <a:r>
              <a:rPr sz="1600" b="0">
                <a:solidFill>
                  <a:srgbClr val="1A1A1A"/>
                </a:solidFill>
                <a:latin typeface="Calibri"/>
              </a:rPr>
              <a:t>TP 932  |  TN 905  |  FP 39  |  FN 111</a:t>
            </a:r>
          </a:p>
          <a:p>
            <a:pPr algn="ctr">
              <a:spcAft>
                <a:spcPts val="0"/>
              </a:spcAft>
            </a:pPr>
            <a:r>
              <a:rPr sz="1600" b="1">
                <a:solidFill>
                  <a:srgbClr val="1A1A1A"/>
                </a:solidFill>
                <a:latin typeface="Calibri"/>
              </a:rPr>
              <a:t>Accuracy = (932 + 905) / 1987 = 92.45%</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63880" y="214884"/>
            <a:ext cx="110642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n-IN" sz="3000" b="1">
                <a:solidFill>
                  <a:srgbClr val="1A1A1A"/>
                </a:solidFill>
                <a:latin typeface="Times New Roman"/>
              </a:rPr>
              <a:t>Conclusion</a:t>
            </a:r>
            <a:endParaRPr lang="en-IN" sz="3000" b="1" dirty="0">
              <a:solidFill>
                <a:srgbClr val="1A1A1A"/>
              </a:solidFill>
              <a:latin typeface="Times New Roman"/>
            </a:endParaRPr>
          </a:p>
        </p:txBody>
      </p:sp>
      <p:sp>
        <p:nvSpPr>
          <p:cNvPr id="3" name="Slide Number"/>
          <p:cNvSpPr/>
          <p:nvPr/>
        </p:nvSpPr>
        <p:spPr>
          <a:xfrm>
            <a:off x="11155680" y="6428232"/>
            <a:ext cx="731520" cy="2834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r"/>
            <a:r>
              <a:rPr lang="en-IN" sz="1200" b="0">
                <a:solidFill>
                  <a:srgbClr val="595959"/>
                </a:solidFill>
                <a:latin typeface="Arial"/>
              </a:rPr>
              <a:t>18</a:t>
            </a:r>
          </a:p>
        </p:txBody>
      </p:sp>
      <p:sp>
        <p:nvSpPr>
          <p:cNvPr id="4" name="TextBox 3"/>
          <p:cNvSpPr txBox="1"/>
          <p:nvPr/>
        </p:nvSpPr>
        <p:spPr>
          <a:xfrm>
            <a:off x="566928" y="1143000"/>
            <a:ext cx="10972800" cy="5120640"/>
          </a:xfrm>
          <a:prstGeom prst="rect">
            <a:avLst/>
          </a:prstGeom>
          <a:noFill/>
        </p:spPr>
        <p:txBody>
          <a:bodyPr wrap="square">
            <a:spAutoFit/>
          </a:bodyPr>
          <a:lstStyle/>
          <a:p>
            <a:pPr>
              <a:spcAft>
                <a:spcPts val="1200"/>
              </a:spcAft>
            </a:pPr>
            <a:r>
              <a:rPr sz="2200" b="0">
                <a:solidFill>
                  <a:srgbClr val="1A1A1A"/>
                </a:solidFill>
                <a:latin typeface="Calibri"/>
              </a:rPr>
              <a:t>This work presents a </a:t>
            </a:r>
            <a:r>
              <a:rPr sz="2200" b="1">
                <a:solidFill>
                  <a:srgbClr val="1A1A1A"/>
                </a:solidFill>
                <a:latin typeface="Calibri"/>
              </a:rPr>
              <a:t>hybrid deepfake detection framework</a:t>
            </a:r>
            <a:r>
              <a:rPr sz="2200" b="0">
                <a:solidFill>
                  <a:srgbClr val="1A1A1A"/>
                </a:solidFill>
                <a:latin typeface="Calibri"/>
              </a:rPr>
              <a:t> combining:</a:t>
            </a:r>
          </a:p>
          <a:p>
            <a:pPr marL="342900" indent="-342900">
              <a:spcAft>
                <a:spcPts val="1400"/>
              </a:spcAft>
              <a:buFont typeface="Arial"/>
              <a:buChar char="•"/>
            </a:pPr>
            <a:r>
              <a:rPr sz="2200" b="1">
                <a:solidFill>
                  <a:srgbClr val="1A1A1A"/>
                </a:solidFill>
                <a:latin typeface="Calibri"/>
              </a:rPr>
              <a:t>Enhanced EfficientNet B0</a:t>
            </a:r>
            <a:r>
              <a:rPr sz="2200" b="0">
                <a:solidFill>
                  <a:srgbClr val="1A1A1A"/>
                </a:solidFill>
                <a:latin typeface="Calibri"/>
              </a:rPr>
              <a:t> with MBConv, SE blocks and FPN for extracting </a:t>
            </a:r>
            <a:r>
              <a:rPr sz="2200" b="1">
                <a:solidFill>
                  <a:srgbClr val="1A1A1A"/>
                </a:solidFill>
                <a:latin typeface="Calibri"/>
              </a:rPr>
              <a:t>spatial artifacts</a:t>
            </a:r>
          </a:p>
          <a:p>
            <a:pPr marL="342900" indent="-342900">
              <a:spcAft>
                <a:spcPts val="1400"/>
              </a:spcAft>
              <a:buFont typeface="Arial"/>
              <a:buChar char="•"/>
            </a:pPr>
            <a:r>
              <a:rPr sz="2200" b="1">
                <a:solidFill>
                  <a:srgbClr val="1A1A1A"/>
                </a:solidFill>
                <a:latin typeface="Calibri"/>
              </a:rPr>
              <a:t>Temporal Convolutional Network (TCN)</a:t>
            </a:r>
            <a:r>
              <a:rPr sz="2200" b="0">
                <a:solidFill>
                  <a:srgbClr val="1A1A1A"/>
                </a:solidFill>
                <a:latin typeface="Calibri"/>
              </a:rPr>
              <a:t> for detecting </a:t>
            </a:r>
            <a:r>
              <a:rPr sz="2200" b="1">
                <a:solidFill>
                  <a:srgbClr val="1A1A1A"/>
                </a:solidFill>
                <a:latin typeface="Calibri"/>
              </a:rPr>
              <a:t>cross-frame inconsistencies</a:t>
            </a:r>
          </a:p>
          <a:p>
            <a:pPr marL="342900" indent="-342900">
              <a:spcAft>
                <a:spcPts val="1400"/>
              </a:spcAft>
              <a:buFont typeface="Arial"/>
              <a:buChar char="•"/>
            </a:pPr>
            <a:r>
              <a:rPr sz="2200" b="1">
                <a:solidFill>
                  <a:srgbClr val="1A1A1A"/>
                </a:solidFill>
                <a:latin typeface="Calibri"/>
              </a:rPr>
              <a:t>MTCNN</a:t>
            </a:r>
            <a:r>
              <a:rPr sz="2200" b="0">
                <a:solidFill>
                  <a:srgbClr val="1A1A1A"/>
                </a:solidFill>
                <a:latin typeface="Calibri"/>
              </a:rPr>
              <a:t> for accurate face detection and alignment</a:t>
            </a:r>
          </a:p>
          <a:p>
            <a:pPr marL="342900" indent="-342900">
              <a:spcAft>
                <a:spcPts val="1400"/>
              </a:spcAft>
              <a:buFont typeface="Arial"/>
              <a:buChar char="•"/>
            </a:pPr>
            <a:r>
              <a:rPr sz="2200" b="1">
                <a:solidFill>
                  <a:srgbClr val="1A1A1A"/>
                </a:solidFill>
                <a:latin typeface="Calibri"/>
              </a:rPr>
              <a:t>CutMix, MixUp and Random Erasing</a:t>
            </a:r>
            <a:r>
              <a:rPr sz="2200" b="0">
                <a:solidFill>
                  <a:srgbClr val="1A1A1A"/>
                </a:solidFill>
                <a:latin typeface="Calibri"/>
              </a:rPr>
              <a:t> to improve model robustness</a:t>
            </a:r>
          </a:p>
          <a:p>
            <a:pPr>
              <a:spcBef>
                <a:spcPts val="1800"/>
              </a:spcBef>
              <a:spcAft>
                <a:spcPts val="400"/>
              </a:spcAft>
            </a:pPr>
            <a:r>
              <a:rPr sz="2200" b="1">
                <a:solidFill>
                  <a:srgbClr val="1A1A1A"/>
                </a:solidFill>
                <a:latin typeface="Calibri"/>
              </a:rPr>
              <a:t>Key Result</a:t>
            </a:r>
          </a:p>
          <a:p>
            <a:pPr>
              <a:spcAft>
                <a:spcPts val="400"/>
              </a:spcAft>
            </a:pPr>
            <a:r>
              <a:rPr sz="2400" b="1">
                <a:solidFill>
                  <a:srgbClr val="1A1A1A"/>
                </a:solidFill>
                <a:latin typeface="Calibri"/>
              </a:rPr>
              <a:t>92.45% Test Accuracy  |  0.45 GFLOPs</a:t>
            </a:r>
          </a:p>
          <a:p>
            <a:pPr>
              <a:spcAft>
                <a:spcPts val="0"/>
              </a:spcAft>
            </a:pPr>
            <a:r>
              <a:rPr sz="2000" b="0">
                <a:solidFill>
                  <a:srgbClr val="1A1A1A"/>
                </a:solidFill>
                <a:latin typeface="Calibri"/>
              </a:rPr>
              <a:t>The model achieves a strong balance between </a:t>
            </a:r>
            <a:r>
              <a:rPr sz="2000" b="1">
                <a:solidFill>
                  <a:srgbClr val="1A1A1A"/>
                </a:solidFill>
                <a:latin typeface="Calibri"/>
              </a:rPr>
              <a:t>detection accuracy and computational efficiency</a:t>
            </a:r>
            <a:r>
              <a:rPr sz="2000" b="0">
                <a:solidFill>
                  <a:srgbClr val="1A1A1A"/>
                </a:solidFill>
                <a:latin typeface="Calibri"/>
              </a:rPr>
              <a:t> on the balanced </a:t>
            </a:r>
            <a:r>
              <a:rPr sz="2000" b="1">
                <a:solidFill>
                  <a:srgbClr val="1A1A1A"/>
                </a:solidFill>
                <a:latin typeface="Calibri"/>
              </a:rPr>
              <a:t>FFIW-10K</a:t>
            </a:r>
            <a:r>
              <a:rPr sz="2000" b="0">
                <a:solidFill>
                  <a:srgbClr val="1A1A1A"/>
                </a:solidFill>
                <a:latin typeface="Calibri"/>
              </a:rPr>
              <a:t> dataset.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48640" y="320040"/>
            <a:ext cx="110642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ctr"/>
          <a:lstStyle/>
          <a:p>
            <a:pPr algn="l"/>
            <a:r>
              <a:rPr sz="3000" b="1">
                <a:solidFill>
                  <a:srgbClr val="1A1A1A"/>
                </a:solidFill>
                <a:latin typeface="Times New Roman"/>
              </a:rPr>
              <a:t>Future Scope</a:t>
            </a:r>
          </a:p>
        </p:txBody>
      </p:sp>
      <p:sp>
        <p:nvSpPr>
          <p:cNvPr id="5" name="Rectangle 4"/>
          <p:cNvSpPr/>
          <p:nvPr/>
        </p:nvSpPr>
        <p:spPr>
          <a:xfrm>
            <a:off x="548640" y="1280160"/>
            <a:ext cx="11064240" cy="731520"/>
          </a:xfrm>
          <a:prstGeom prst="rect">
            <a:avLst/>
          </a:prstGeom>
          <a:solidFill>
            <a:srgbClr val="3E6E56"/>
          </a:solid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ctr"/>
          <a:lstStyle/>
          <a:p>
            <a:pPr algn="l"/>
            <a:r>
              <a:rPr sz="2400" b="1">
                <a:solidFill>
                  <a:srgbClr val="FFFFFF"/>
                </a:solidFill>
                <a:latin typeface="Times New Roman"/>
              </a:rPr>
              <a:t>Directions for Further Work</a:t>
            </a:r>
          </a:p>
        </p:txBody>
      </p:sp>
      <p:sp>
        <p:nvSpPr>
          <p:cNvPr id="6" name="Rectangle 5"/>
          <p:cNvSpPr/>
          <p:nvPr/>
        </p:nvSpPr>
        <p:spPr>
          <a:xfrm>
            <a:off x="548640" y="2103120"/>
            <a:ext cx="11064240" cy="3657600"/>
          </a:xfrm>
          <a:prstGeom prst="rect">
            <a:avLst/>
          </a:prstGeom>
          <a:solidFill>
            <a:srgbClr val="E7EFE9"/>
          </a:solidFill>
          <a:ln w="12700">
            <a:solidFill>
              <a:srgbClr val="3E6E56"/>
            </a:solid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ctr"/>
          <a:lstStyle/>
          <a:p>
            <a:pPr algn="l">
              <a:lnSpc>
                <a:spcPct val="110000"/>
              </a:lnSpc>
              <a:spcAft>
                <a:spcPts val="1600"/>
              </a:spcAft>
            </a:pPr>
            <a:r>
              <a:rPr sz="2400" b="0" dirty="0">
                <a:solidFill>
                  <a:srgbClr val="1A1A1A"/>
                </a:solidFill>
                <a:latin typeface="Arial"/>
              </a:rPr>
              <a:t>•  Use larger, more diverse datasets with different deepfake methods and real-world scenarios</a:t>
            </a:r>
          </a:p>
          <a:p>
            <a:pPr algn="l">
              <a:lnSpc>
                <a:spcPct val="110000"/>
              </a:lnSpc>
              <a:spcAft>
                <a:spcPts val="1600"/>
              </a:spcAft>
            </a:pPr>
            <a:r>
              <a:rPr sz="2400" b="0" dirty="0">
                <a:solidFill>
                  <a:srgbClr val="1A1A1A"/>
                </a:solidFill>
                <a:latin typeface="Arial"/>
              </a:rPr>
              <a:t>•  Add audio and text to build a full multimodal detection system</a:t>
            </a:r>
          </a:p>
          <a:p>
            <a:pPr algn="l">
              <a:lnSpc>
                <a:spcPct val="110000"/>
              </a:lnSpc>
              <a:spcAft>
                <a:spcPts val="1600"/>
              </a:spcAft>
            </a:pPr>
            <a:r>
              <a:rPr sz="2400" b="0" dirty="0">
                <a:solidFill>
                  <a:srgbClr val="1A1A1A"/>
                </a:solidFill>
                <a:latin typeface="Arial"/>
              </a:rPr>
              <a:t>•  Apply adversarial training to resist emerging generation techniques</a:t>
            </a:r>
          </a:p>
          <a:p>
            <a:pPr algn="l">
              <a:lnSpc>
                <a:spcPct val="110000"/>
              </a:lnSpc>
              <a:spcAft>
                <a:spcPts val="1600"/>
              </a:spcAft>
            </a:pPr>
            <a:r>
              <a:rPr sz="2400" b="0" dirty="0">
                <a:solidFill>
                  <a:srgbClr val="1A1A1A"/>
                </a:solidFill>
                <a:latin typeface="Arial"/>
              </a:rPr>
              <a:t>•  Improve efficiency and precision further for real-time use</a:t>
            </a:r>
          </a:p>
          <a:p>
            <a:pPr algn="l">
              <a:lnSpc>
                <a:spcPct val="110000"/>
              </a:lnSpc>
              <a:spcAft>
                <a:spcPts val="1600"/>
              </a:spcAft>
            </a:pPr>
            <a:r>
              <a:rPr sz="2400" b="0" dirty="0">
                <a:solidFill>
                  <a:srgbClr val="1A1A1A"/>
                </a:solidFill>
                <a:latin typeface="Arial"/>
              </a:rPr>
              <a:t>•  Researchers and policymakers work together on ethics and best practices</a:t>
            </a:r>
          </a:p>
        </p:txBody>
      </p:sp>
      <p:sp>
        <p:nvSpPr>
          <p:cNvPr id="8" name="Slide Number"/>
          <p:cNvSpPr/>
          <p:nvPr/>
        </p:nvSpPr>
        <p:spPr>
          <a:xfrm>
            <a:off x="11155680" y="6428232"/>
            <a:ext cx="731520" cy="2834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64592" tIns="91440" rIns="164592" bIns="91440" rtlCol="0" anchor="t"/>
          <a:lstStyle/>
          <a:p>
            <a:pPr algn="r"/>
            <a:r>
              <a:rPr sz="1200" b="0">
                <a:solidFill>
                  <a:srgbClr val="595959"/>
                </a:solidFill>
                <a:latin typeface="Arial"/>
              </a:rPr>
              <a:t>19</a:t>
            </a:r>
          </a:p>
        </p:txBody>
      </p:sp>
      <p:sp>
        <p:nvSpPr>
          <p:cNvPr id="9" name="TextBox 8">
            <a:extLst>
              <a:ext uri="{FF2B5EF4-FFF2-40B4-BE49-F238E27FC236}">
                <a16:creationId xmlns:a16="http://schemas.microsoft.com/office/drawing/2014/main" id="{2C0D7425-2FEB-ACA5-350F-25A2ABC660D7}"/>
              </a:ext>
            </a:extLst>
          </p:cNvPr>
          <p:cNvSpPr txBox="1"/>
          <p:nvPr/>
        </p:nvSpPr>
        <p:spPr>
          <a:xfrm>
            <a:off x="11389489" y="-625033"/>
            <a:ext cx="184731" cy="369332"/>
          </a:xfrm>
          <a:prstGeom prst="rect">
            <a:avLst/>
          </a:prstGeom>
          <a:noFill/>
        </p:spPr>
        <p:txBody>
          <a:bodyPr wrap="none" rtlCol="0">
            <a:spAutoFit/>
          </a:bodyPr>
          <a:lstStyle/>
          <a:p>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E2BFAA4-A558-845B-840F-7D3364735900}"/>
              </a:ext>
            </a:extLst>
          </p:cNvPr>
          <p:cNvSpPr txBox="1"/>
          <p:nvPr/>
        </p:nvSpPr>
        <p:spPr>
          <a:xfrm>
            <a:off x="184279" y="513183"/>
            <a:ext cx="11833550" cy="6063198"/>
          </a:xfrm>
          <a:prstGeom prst="rect">
            <a:avLst/>
          </a:prstGeom>
          <a:noFill/>
        </p:spPr>
        <p:txBody>
          <a:bodyPr wrap="square">
            <a:spAutoFit/>
          </a:bodyPr>
          <a:lstStyle/>
          <a:p>
            <a:pPr rtl="0">
              <a:buNone/>
            </a:pPr>
            <a:r>
              <a:rPr lang="en-IN" sz="2400" b="1" dirty="0"/>
              <a:t>References</a:t>
            </a:r>
            <a:endParaRPr lang="en-IN" sz="2400" dirty="0"/>
          </a:p>
          <a:p>
            <a:pPr rtl="0">
              <a:buNone/>
            </a:pPr>
            <a:r>
              <a:rPr lang="en-IN" sz="1300" dirty="0"/>
              <a:t>[1] A. Rössler, D. Cozzolino, L. </a:t>
            </a:r>
            <a:r>
              <a:rPr lang="en-IN" sz="1300" dirty="0" err="1"/>
              <a:t>Verdoliva</a:t>
            </a:r>
            <a:r>
              <a:rPr lang="en-IN" sz="1300" dirty="0"/>
              <a:t>, C. Riess, J. Thies, and M. </a:t>
            </a:r>
            <a:r>
              <a:rPr lang="en-IN" sz="1300" dirty="0" err="1"/>
              <a:t>Nießner</a:t>
            </a:r>
            <a:r>
              <a:rPr lang="en-IN" sz="1300" dirty="0"/>
              <a:t>, "</a:t>
            </a:r>
            <a:r>
              <a:rPr lang="en-IN" sz="1300" dirty="0" err="1"/>
              <a:t>FaceForensics</a:t>
            </a:r>
            <a:r>
              <a:rPr lang="en-IN" sz="1300" dirty="0"/>
              <a:t>++: Learning to detect manipulated facial images," 2019, arXiv:1901.08971.</a:t>
            </a:r>
          </a:p>
          <a:p>
            <a:pPr rtl="0">
              <a:buNone/>
            </a:pPr>
            <a:endParaRPr lang="en-IN" sz="1300" dirty="0"/>
          </a:p>
          <a:p>
            <a:pPr rtl="0">
              <a:buNone/>
            </a:pPr>
            <a:r>
              <a:rPr lang="en-IN" sz="1300" dirty="0"/>
              <a:t>[2] O. de Lima, S. Franklin, S. Basu, B. Karwoski, and A. George, "Deepfake detection using spatiotemporal convolutional networks," 2020, arXiv:2006.14749.</a:t>
            </a:r>
          </a:p>
          <a:p>
            <a:pPr rtl="0">
              <a:buNone/>
            </a:pPr>
            <a:endParaRPr lang="en-IN" sz="1300" dirty="0"/>
          </a:p>
          <a:p>
            <a:pPr rtl="0">
              <a:buNone/>
            </a:pPr>
            <a:r>
              <a:rPr lang="en-IN" sz="1300" dirty="0"/>
              <a:t>[3] V.-T. Hoang and K.-H. Jo, "Practical analysis on architecture of </a:t>
            </a:r>
            <a:r>
              <a:rPr lang="en-IN" sz="1300" dirty="0" err="1"/>
              <a:t>EfficientNet</a:t>
            </a:r>
            <a:r>
              <a:rPr lang="en-IN" sz="1300" dirty="0"/>
              <a:t>," in Proc. 14th Int. Conf. Hum. Syst. Interact. (HSI), Jul. 2021, pp. 1–4.</a:t>
            </a:r>
          </a:p>
          <a:p>
            <a:pPr rtl="0">
              <a:buNone/>
            </a:pPr>
            <a:endParaRPr lang="en-IN" sz="1300" dirty="0"/>
          </a:p>
          <a:p>
            <a:pPr rtl="0">
              <a:buNone/>
            </a:pPr>
            <a:r>
              <a:rPr lang="en-IN" sz="1300" dirty="0"/>
              <a:t>[4] C. Lea, R. Vidal, A. Reiter, and G. D. Hager, "Temporal convolutional networks: A unified approach to action segmentation," in Proc. </a:t>
            </a:r>
            <a:r>
              <a:rPr lang="en-IN" sz="1300" dirty="0" err="1"/>
              <a:t>Comput</a:t>
            </a:r>
            <a:r>
              <a:rPr lang="en-IN" sz="1300" dirty="0"/>
              <a:t>. Vis.-ECCV Workshops, Cham, Switzerland: Springer, Jan. 2016, pp. 47–54.</a:t>
            </a:r>
          </a:p>
          <a:p>
            <a:pPr rtl="0">
              <a:buNone/>
            </a:pPr>
            <a:endParaRPr lang="en-IN" sz="1300" dirty="0"/>
          </a:p>
          <a:p>
            <a:pPr rtl="0">
              <a:buNone/>
            </a:pPr>
            <a:r>
              <a:rPr lang="en-IN" sz="1300" dirty="0"/>
              <a:t>[5] F. B. Aissa, M. Hamdi, M. Zaied, and M. Mejdoub, "An overview of GAN-</a:t>
            </a:r>
            <a:r>
              <a:rPr lang="en-IN" sz="1300" dirty="0" err="1"/>
              <a:t>DeepFakes</a:t>
            </a:r>
            <a:r>
              <a:rPr lang="en-IN" sz="1300" dirty="0"/>
              <a:t> detection: Proposal, improvement, and evaluation," Multimedia Tools Appl., vol. 83, no. 11, pp. 32343–32365, Sep. 2023.</a:t>
            </a:r>
          </a:p>
          <a:p>
            <a:pPr rtl="0">
              <a:buNone/>
            </a:pPr>
            <a:endParaRPr lang="en-IN" sz="1300" dirty="0"/>
          </a:p>
          <a:p>
            <a:pPr rtl="0">
              <a:buNone/>
            </a:pPr>
            <a:r>
              <a:rPr lang="en-IN" sz="1300" dirty="0"/>
              <a:t>[6] D. V. </a:t>
            </a:r>
            <a:r>
              <a:rPr lang="en-IN" sz="1300" dirty="0" err="1"/>
              <a:t>Nagagopiraju</a:t>
            </a:r>
            <a:r>
              <a:rPr lang="en-IN" sz="1300" dirty="0"/>
              <a:t>, K. Ayyappa, P. </a:t>
            </a:r>
            <a:r>
              <a:rPr lang="en-IN" sz="1300" dirty="0" err="1"/>
              <a:t>Anshulalitha</a:t>
            </a:r>
            <a:r>
              <a:rPr lang="en-IN" sz="1300" dirty="0"/>
              <a:t>, J. Srikanth, and K. T. Teja, "A efficient deep fake face detection using deep inception net learning algorithm," Turkish J. </a:t>
            </a:r>
            <a:r>
              <a:rPr lang="en-IN" sz="1300" dirty="0" err="1"/>
              <a:t>Comput</a:t>
            </a:r>
            <a:r>
              <a:rPr lang="en-IN" sz="1300" dirty="0"/>
              <a:t>. Math. Educ., vol. 15, no. 1, pp. 138–141, Mar. 2024.</a:t>
            </a:r>
          </a:p>
          <a:p>
            <a:pPr rtl="0">
              <a:buNone/>
            </a:pPr>
            <a:endParaRPr lang="en-IN" sz="1300" dirty="0"/>
          </a:p>
          <a:p>
            <a:pPr rtl="0">
              <a:buNone/>
            </a:pPr>
            <a:r>
              <a:rPr lang="en-IN" sz="1300" dirty="0"/>
              <a:t>[7] Z. Wang, Q. She, and T. E. Ward, "Generative adversarial networks in computer vision: A survey and taxonomy," 2019, arXiv:1906.01529.</a:t>
            </a:r>
          </a:p>
          <a:p>
            <a:pPr rtl="0">
              <a:buNone/>
            </a:pPr>
            <a:r>
              <a:rPr lang="en-IN" sz="1300" dirty="0"/>
              <a:t>[8] H. Sabah Abdul </a:t>
            </a:r>
            <a:r>
              <a:rPr lang="en-IN" sz="1300" dirty="0" err="1"/>
              <a:t>kareem</a:t>
            </a:r>
            <a:r>
              <a:rPr lang="en-IN" sz="1300" dirty="0"/>
              <a:t> and M. S. Mahdi </a:t>
            </a:r>
            <a:r>
              <a:rPr lang="en-IN" sz="1300" dirty="0" err="1"/>
              <a:t>Altaei</a:t>
            </a:r>
            <a:r>
              <a:rPr lang="en-IN" sz="1300" dirty="0"/>
              <a:t>, "Detection of deep fake in face images based machine learning," Al-Salam J. Eng. Technol., vol. 2, no. 2, pp. 1–12, Feb. 2023.</a:t>
            </a:r>
          </a:p>
          <a:p>
            <a:pPr rtl="0">
              <a:buNone/>
            </a:pPr>
            <a:endParaRPr lang="en-IN" sz="1300" dirty="0"/>
          </a:p>
          <a:p>
            <a:pPr rtl="0">
              <a:buNone/>
            </a:pPr>
            <a:r>
              <a:rPr lang="en-IN" sz="1300" dirty="0"/>
              <a:t>[9] R. R. Sekar, T. D. Rajkumar, and K. R. Anne, "Deep fake detection using an optimal deep learning model with multi head attention-based feature extraction scheme," Vis. </a:t>
            </a:r>
            <a:r>
              <a:rPr lang="en-IN" sz="1300" dirty="0" err="1"/>
              <a:t>Comput</a:t>
            </a:r>
            <a:r>
              <a:rPr lang="en-IN" sz="1300" dirty="0"/>
              <a:t>., vol. 41, no. 4, pp. 2783–2800, Mar. 2025.</a:t>
            </a:r>
          </a:p>
          <a:p>
            <a:pPr rtl="0">
              <a:buNone/>
            </a:pPr>
            <a:endParaRPr lang="en-IN" sz="1300" dirty="0"/>
          </a:p>
          <a:p>
            <a:pPr rtl="0">
              <a:buNone/>
            </a:pPr>
            <a:r>
              <a:rPr lang="en-IN" sz="1300" dirty="0"/>
              <a:t>[10] X. Wang et al., "ESRGAN: Enhanced super-resolution generative adversarial networks," 2018, arXiv:1809.00219.</a:t>
            </a:r>
          </a:p>
          <a:p>
            <a:pPr rtl="0">
              <a:buNone/>
            </a:pPr>
            <a:endParaRPr lang="en-IN" sz="1300" dirty="0"/>
          </a:p>
          <a:p>
            <a:pPr rtl="0">
              <a:buNone/>
            </a:pPr>
            <a:r>
              <a:rPr lang="en-IN" sz="1300" dirty="0"/>
              <a:t>[11] A. Rajeev and P. Raviraj, "Performance evaluation of deep learning models for detecting deep fakes," Int. J. Systematic </a:t>
            </a:r>
            <a:r>
              <a:rPr lang="en-IN" sz="1300" dirty="0" err="1"/>
              <a:t>Innov</a:t>
            </a:r>
            <a:r>
              <a:rPr lang="en-IN" sz="1300" dirty="0"/>
              <a:t>., vol. 8, no. 1, pp. 49–62, 2024.</a:t>
            </a:r>
          </a:p>
        </p:txBody>
      </p:sp>
      <p:sp>
        <p:nvSpPr>
          <p:cNvPr id="4" name="Slide Number 4"/>
          <p:cNvSpPr txBox="1"/>
          <p:nvPr/>
        </p:nvSpPr>
        <p:spPr>
          <a:xfrm>
            <a:off x="11150000" y="6430000"/>
            <a:ext cx="700000" cy="280000"/>
          </a:xfrm>
          <a:prstGeom prst="rect">
            <a:avLst/>
          </a:prstGeom>
          <a:noFill/>
        </p:spPr>
        <p:txBody>
          <a:bodyPr wrap="none" lIns="0" tIns="0" rIns="0" bIns="0" anchor="ctr"/>
          <a:lstStyle/>
          <a:p>
            <a:pPr algn="r"/>
            <a:fld id="{B6F15528-21DE-4FAA-801E-634DDDAF4B2B}" type="slidenum">
              <a:rPr lang="en-US" sz="1200" b="1">
                <a:solidFill>
                  <a:srgbClr val="595959"/>
                </a:solidFill>
              </a:rPr>
              <a:t>20</a:t>
            </a:fld>
            <a:endParaRPr lang="en-US" sz="1200"/>
          </a:p>
        </p:txBody>
      </p:sp>
    </p:spTree>
    <p:extLst>
      <p:ext uri="{BB962C8B-B14F-4D97-AF65-F5344CB8AC3E}">
        <p14:creationId xmlns:p14="http://schemas.microsoft.com/office/powerpoint/2010/main" val="2241182288"/>
      </p:ext>
    </p:extLst>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320040"/>
            <a:ext cx="11064240" cy="7315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3000" b="1">
                <a:solidFill>
                  <a:srgbClr val="1A1A1A"/>
                </a:solidFill>
                <a:latin typeface="Times New Roman"/>
              </a:rPr>
              <a:t>Related Work and Research Gap</a:t>
            </a:r>
          </a:p>
        </p:txBody>
      </p:sp>
      <p:sp>
        <p:nvSpPr>
          <p:cNvPr id="3" name="Slide Number"/>
          <p:cNvSpPr/>
          <p:nvPr/>
        </p:nvSpPr>
        <p:spPr>
          <a:xfrm>
            <a:off x="11155680" y="6428232"/>
            <a:ext cx="731520" cy="28346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t"/>
          <a:lstStyle/>
          <a:p>
            <a:pPr algn="r"/>
            <a:r>
              <a:rPr sz="1200" b="0">
                <a:solidFill>
                  <a:srgbClr val="595959"/>
                </a:solidFill>
                <a:latin typeface="Arial"/>
              </a:rPr>
              <a:t>6</a:t>
            </a:r>
          </a:p>
        </p:txBody>
      </p:sp>
      <p:graphicFrame>
        <p:nvGraphicFramePr>
          <p:cNvPr id="4" name="Table 3"/>
          <p:cNvGraphicFramePr>
            <a:graphicFrameLocks noGrp="1"/>
          </p:cNvGraphicFramePr>
          <p:nvPr/>
        </p:nvGraphicFramePr>
        <p:xfrm>
          <a:off x="822960" y="1188720"/>
          <a:ext cx="10515600" cy="3218688"/>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40233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402336">
                <a:tc>
                  <a:txBody>
                    <a:bodyPr/>
                    <a:lstStyle/>
                    <a:p>
                      <a:r>
                        <a:rPr sz="1300" b="1">
                          <a:solidFill>
                            <a:srgbClr val="FFFFFF"/>
                          </a:solidFill>
                          <a:latin typeface="Arial"/>
                        </a:rPr>
                        <a:t>Year</a:t>
                      </a:r>
                    </a:p>
                  </a:txBody>
                  <a:tcPr anchor="ctr">
                    <a:solidFill>
                      <a:srgbClr val="3E6E56"/>
                    </a:solidFill>
                  </a:tcPr>
                </a:tc>
                <a:tc>
                  <a:txBody>
                    <a:bodyPr/>
                    <a:lstStyle/>
                    <a:p>
                      <a:r>
                        <a:rPr sz="1300" b="1">
                          <a:solidFill>
                            <a:srgbClr val="FFFFFF"/>
                          </a:solidFill>
                          <a:latin typeface="Arial"/>
                        </a:rPr>
                        <a:t>Technique</a:t>
                      </a:r>
                    </a:p>
                  </a:txBody>
                  <a:tcPr anchor="ctr">
                    <a:solidFill>
                      <a:srgbClr val="3E6E56"/>
                    </a:solidFill>
                  </a:tcPr>
                </a:tc>
                <a:tc>
                  <a:txBody>
                    <a:bodyPr/>
                    <a:lstStyle/>
                    <a:p>
                      <a:r>
                        <a:rPr sz="1300" b="1">
                          <a:solidFill>
                            <a:srgbClr val="FFFFFF"/>
                          </a:solidFill>
                          <a:latin typeface="Arial"/>
                        </a:rPr>
                        <a:t>Dataset</a:t>
                      </a:r>
                    </a:p>
                  </a:txBody>
                  <a:tcPr anchor="ctr">
                    <a:solidFill>
                      <a:srgbClr val="3E6E56"/>
                    </a:solidFill>
                  </a:tcPr>
                </a:tc>
                <a:tc>
                  <a:txBody>
                    <a:bodyPr/>
                    <a:lstStyle/>
                    <a:p>
                      <a:r>
                        <a:rPr sz="1300" b="1">
                          <a:solidFill>
                            <a:srgbClr val="FFFFFF"/>
                          </a:solidFill>
                          <a:latin typeface="Arial"/>
                        </a:rPr>
                        <a:t>Accuracy</a:t>
                      </a:r>
                    </a:p>
                  </a:txBody>
                  <a:tcPr anchor="ctr">
                    <a:solidFill>
                      <a:srgbClr val="3E6E56"/>
                    </a:solidFill>
                  </a:tcPr>
                </a:tc>
                <a:extLst>
                  <a:ext uri="{0D108BD9-81ED-4DB2-BD59-A6C34878D82A}">
                    <a16:rowId xmlns:a16="http://schemas.microsoft.com/office/drawing/2014/main" val="10000"/>
                  </a:ext>
                </a:extLst>
              </a:tr>
              <a:tr h="402336">
                <a:tc>
                  <a:txBody>
                    <a:bodyPr/>
                    <a:lstStyle/>
                    <a:p>
                      <a:r>
                        <a:rPr sz="1300" b="0">
                          <a:solidFill>
                            <a:srgbClr val="1A1A1A"/>
                          </a:solidFill>
                          <a:latin typeface="Arial"/>
                        </a:rPr>
                        <a:t>2024</a:t>
                      </a:r>
                    </a:p>
                  </a:txBody>
                  <a:tcPr anchor="ctr">
                    <a:solidFill>
                      <a:srgbClr val="FFFFFF"/>
                    </a:solidFill>
                  </a:tcPr>
                </a:tc>
                <a:tc>
                  <a:txBody>
                    <a:bodyPr/>
                    <a:lstStyle/>
                    <a:p>
                      <a:r>
                        <a:rPr sz="1300" b="0">
                          <a:solidFill>
                            <a:srgbClr val="1A1A1A"/>
                          </a:solidFill>
                          <a:latin typeface="Arial"/>
                        </a:rPr>
                        <a:t>Inception Net (CNN)</a:t>
                      </a:r>
                    </a:p>
                  </a:txBody>
                  <a:tcPr anchor="ctr">
                    <a:solidFill>
                      <a:srgbClr val="FFFFFF"/>
                    </a:solidFill>
                  </a:tcPr>
                </a:tc>
                <a:tc>
                  <a:txBody>
                    <a:bodyPr/>
                    <a:lstStyle/>
                    <a:p>
                      <a:r>
                        <a:rPr sz="1300" b="0">
                          <a:solidFill>
                            <a:srgbClr val="1A1A1A"/>
                          </a:solidFill>
                          <a:latin typeface="Arial"/>
                        </a:rPr>
                        <a:t>Kaggle (401 videos)</a:t>
                      </a:r>
                    </a:p>
                  </a:txBody>
                  <a:tcPr anchor="ctr">
                    <a:solidFill>
                      <a:srgbClr val="FFFFFF"/>
                    </a:solidFill>
                  </a:tcPr>
                </a:tc>
                <a:tc>
                  <a:txBody>
                    <a:bodyPr/>
                    <a:lstStyle/>
                    <a:p>
                      <a:r>
                        <a:rPr sz="1300" b="0">
                          <a:solidFill>
                            <a:srgbClr val="1A1A1A"/>
                          </a:solidFill>
                          <a:latin typeface="Arial"/>
                        </a:rPr>
                        <a:t>92.3%</a:t>
                      </a:r>
                    </a:p>
                  </a:txBody>
                  <a:tcPr anchor="ctr">
                    <a:solidFill>
                      <a:srgbClr val="FFFFFF"/>
                    </a:solidFill>
                  </a:tcPr>
                </a:tc>
                <a:extLst>
                  <a:ext uri="{0D108BD9-81ED-4DB2-BD59-A6C34878D82A}">
                    <a16:rowId xmlns:a16="http://schemas.microsoft.com/office/drawing/2014/main" val="10001"/>
                  </a:ext>
                </a:extLst>
              </a:tr>
              <a:tr h="402336">
                <a:tc>
                  <a:txBody>
                    <a:bodyPr/>
                    <a:lstStyle/>
                    <a:p>
                      <a:r>
                        <a:rPr sz="1300" b="0">
                          <a:solidFill>
                            <a:srgbClr val="1A1A1A"/>
                          </a:solidFill>
                          <a:latin typeface="Arial"/>
                        </a:rPr>
                        <a:t>2023</a:t>
                      </a:r>
                    </a:p>
                  </a:txBody>
                  <a:tcPr anchor="ctr">
                    <a:solidFill>
                      <a:srgbClr val="F2F7F4"/>
                    </a:solidFill>
                  </a:tcPr>
                </a:tc>
                <a:tc>
                  <a:txBody>
                    <a:bodyPr/>
                    <a:lstStyle/>
                    <a:p>
                      <a:r>
                        <a:rPr sz="1300" b="0">
                          <a:solidFill>
                            <a:srgbClr val="1A1A1A"/>
                          </a:solidFill>
                          <a:latin typeface="Arial"/>
                        </a:rPr>
                        <a:t>SVM + PCA (YCbCr input)</a:t>
                      </a:r>
                    </a:p>
                  </a:txBody>
                  <a:tcPr anchor="ctr">
                    <a:solidFill>
                      <a:srgbClr val="F2F7F4"/>
                    </a:solidFill>
                  </a:tcPr>
                </a:tc>
                <a:tc>
                  <a:txBody>
                    <a:bodyPr/>
                    <a:lstStyle/>
                    <a:p>
                      <a:r>
                        <a:rPr sz="1300" b="0">
                          <a:solidFill>
                            <a:srgbClr val="1A1A1A"/>
                          </a:solidFill>
                          <a:latin typeface="Arial"/>
                        </a:rPr>
                        <a:t>Custom dataset</a:t>
                      </a:r>
                    </a:p>
                  </a:txBody>
                  <a:tcPr anchor="ctr">
                    <a:solidFill>
                      <a:srgbClr val="F2F7F4"/>
                    </a:solidFill>
                  </a:tcPr>
                </a:tc>
                <a:tc>
                  <a:txBody>
                    <a:bodyPr/>
                    <a:lstStyle/>
                    <a:p>
                      <a:r>
                        <a:rPr sz="1300" b="0">
                          <a:solidFill>
                            <a:srgbClr val="1A1A1A"/>
                          </a:solidFill>
                          <a:latin typeface="Arial"/>
                        </a:rPr>
                        <a:t>92.8% (72.2% without PCA)</a:t>
                      </a:r>
                    </a:p>
                  </a:txBody>
                  <a:tcPr anchor="ctr">
                    <a:solidFill>
                      <a:srgbClr val="F2F7F4"/>
                    </a:solidFill>
                  </a:tcPr>
                </a:tc>
                <a:extLst>
                  <a:ext uri="{0D108BD9-81ED-4DB2-BD59-A6C34878D82A}">
                    <a16:rowId xmlns:a16="http://schemas.microsoft.com/office/drawing/2014/main" val="10002"/>
                  </a:ext>
                </a:extLst>
              </a:tr>
              <a:tr h="402336">
                <a:tc>
                  <a:txBody>
                    <a:bodyPr/>
                    <a:lstStyle/>
                    <a:p>
                      <a:r>
                        <a:rPr sz="1300" b="0">
                          <a:solidFill>
                            <a:srgbClr val="1A1A1A"/>
                          </a:solidFill>
                          <a:latin typeface="Arial"/>
                        </a:rPr>
                        <a:t>2025</a:t>
                      </a:r>
                    </a:p>
                  </a:txBody>
                  <a:tcPr anchor="ctr">
                    <a:solidFill>
                      <a:srgbClr val="FFFFFF"/>
                    </a:solidFill>
                  </a:tcPr>
                </a:tc>
                <a:tc>
                  <a:txBody>
                    <a:bodyPr/>
                    <a:lstStyle/>
                    <a:p>
                      <a:r>
                        <a:rPr sz="1300" b="0">
                          <a:solidFill>
                            <a:srgbClr val="1A1A1A"/>
                          </a:solidFill>
                          <a:latin typeface="Arial"/>
                        </a:rPr>
                        <a:t>Attention features + Optimized LSTM</a:t>
                      </a:r>
                    </a:p>
                  </a:txBody>
                  <a:tcPr anchor="ctr">
                    <a:solidFill>
                      <a:srgbClr val="FFFFFF"/>
                    </a:solidFill>
                  </a:tcPr>
                </a:tc>
                <a:tc>
                  <a:txBody>
                    <a:bodyPr/>
                    <a:lstStyle/>
                    <a:p>
                      <a:r>
                        <a:rPr sz="1300" b="0">
                          <a:solidFill>
                            <a:srgbClr val="1A1A1A"/>
                          </a:solidFill>
                          <a:latin typeface="Arial"/>
                        </a:rPr>
                        <a:t>FF++, DFDC, Celeb-DF, WildDeepfake</a:t>
                      </a:r>
                    </a:p>
                  </a:txBody>
                  <a:tcPr anchor="ctr">
                    <a:solidFill>
                      <a:srgbClr val="FFFFFF"/>
                    </a:solidFill>
                  </a:tcPr>
                </a:tc>
                <a:tc>
                  <a:txBody>
                    <a:bodyPr/>
                    <a:lstStyle/>
                    <a:p>
                      <a:r>
                        <a:rPr sz="1300" b="0">
                          <a:solidFill>
                            <a:srgbClr val="1A1A1A"/>
                          </a:solidFill>
                          <a:latin typeface="Arial"/>
                        </a:rPr>
                        <a:t>94.65% (heavy model)</a:t>
                      </a:r>
                    </a:p>
                  </a:txBody>
                  <a:tcPr anchor="ctr">
                    <a:solidFill>
                      <a:srgbClr val="FFFFFF"/>
                    </a:solidFill>
                  </a:tcPr>
                </a:tc>
                <a:extLst>
                  <a:ext uri="{0D108BD9-81ED-4DB2-BD59-A6C34878D82A}">
                    <a16:rowId xmlns:a16="http://schemas.microsoft.com/office/drawing/2014/main" val="10003"/>
                  </a:ext>
                </a:extLst>
              </a:tr>
              <a:tr h="402336">
                <a:tc>
                  <a:txBody>
                    <a:bodyPr/>
                    <a:lstStyle/>
                    <a:p>
                      <a:r>
                        <a:rPr sz="1300" b="0">
                          <a:solidFill>
                            <a:srgbClr val="1A1A1A"/>
                          </a:solidFill>
                          <a:latin typeface="Arial"/>
                        </a:rPr>
                        <a:t>2024</a:t>
                      </a:r>
                    </a:p>
                  </a:txBody>
                  <a:tcPr anchor="ctr">
                    <a:solidFill>
                      <a:srgbClr val="F2F7F4"/>
                    </a:solidFill>
                  </a:tcPr>
                </a:tc>
                <a:tc>
                  <a:txBody>
                    <a:bodyPr/>
                    <a:lstStyle/>
                    <a:p>
                      <a:r>
                        <a:rPr sz="1300" b="0">
                          <a:solidFill>
                            <a:srgbClr val="1A1A1A"/>
                          </a:solidFill>
                          <a:latin typeface="Arial"/>
                        </a:rPr>
                        <a:t>CNN+RNN / DAFDN / Hybrid Inception ResNet v2</a:t>
                      </a:r>
                    </a:p>
                  </a:txBody>
                  <a:tcPr anchor="ctr">
                    <a:solidFill>
                      <a:srgbClr val="F2F7F4"/>
                    </a:solidFill>
                  </a:tcPr>
                </a:tc>
                <a:tc>
                  <a:txBody>
                    <a:bodyPr/>
                    <a:lstStyle/>
                    <a:p>
                      <a:r>
                        <a:rPr sz="1300" b="0">
                          <a:solidFill>
                            <a:srgbClr val="1A1A1A"/>
                          </a:solidFill>
                          <a:latin typeface="Arial"/>
                        </a:rPr>
                        <a:t>Comprehensive dataset</a:t>
                      </a:r>
                    </a:p>
                  </a:txBody>
                  <a:tcPr anchor="ctr">
                    <a:solidFill>
                      <a:srgbClr val="F2F7F4"/>
                    </a:solidFill>
                  </a:tcPr>
                </a:tc>
                <a:tc>
                  <a:txBody>
                    <a:bodyPr/>
                    <a:lstStyle/>
                    <a:p>
                      <a:r>
                        <a:rPr sz="1300" b="0">
                          <a:solidFill>
                            <a:srgbClr val="1A1A1A"/>
                          </a:solidFill>
                          <a:latin typeface="Arial"/>
                        </a:rPr>
                        <a:t>94.8% / 97.8% / 98%</a:t>
                      </a:r>
                    </a:p>
                  </a:txBody>
                  <a:tcPr anchor="ctr">
                    <a:solidFill>
                      <a:srgbClr val="F2F7F4"/>
                    </a:solidFill>
                  </a:tcPr>
                </a:tc>
                <a:extLst>
                  <a:ext uri="{0D108BD9-81ED-4DB2-BD59-A6C34878D82A}">
                    <a16:rowId xmlns:a16="http://schemas.microsoft.com/office/drawing/2014/main" val="10004"/>
                  </a:ext>
                </a:extLst>
              </a:tr>
              <a:tr h="402336">
                <a:tc>
                  <a:txBody>
                    <a:bodyPr/>
                    <a:lstStyle/>
                    <a:p>
                      <a:r>
                        <a:rPr sz="1300" b="0">
                          <a:solidFill>
                            <a:srgbClr val="1A1A1A"/>
                          </a:solidFill>
                          <a:latin typeface="Arial"/>
                        </a:rPr>
                        <a:t>2022</a:t>
                      </a:r>
                    </a:p>
                  </a:txBody>
                  <a:tcPr anchor="ctr">
                    <a:solidFill>
                      <a:srgbClr val="FFFFFF"/>
                    </a:solidFill>
                  </a:tcPr>
                </a:tc>
                <a:tc>
                  <a:txBody>
                    <a:bodyPr/>
                    <a:lstStyle/>
                    <a:p>
                      <a:r>
                        <a:rPr sz="1300" b="0">
                          <a:solidFill>
                            <a:srgbClr val="1A1A1A"/>
                          </a:solidFill>
                          <a:latin typeface="Arial"/>
                        </a:rPr>
                        <a:t>MesoNet (lightweight)</a:t>
                      </a:r>
                    </a:p>
                  </a:txBody>
                  <a:tcPr anchor="ctr">
                    <a:solidFill>
                      <a:srgbClr val="FFFFFF"/>
                    </a:solidFill>
                  </a:tcPr>
                </a:tc>
                <a:tc>
                  <a:txBody>
                    <a:bodyPr/>
                    <a:lstStyle/>
                    <a:p>
                      <a:r>
                        <a:rPr sz="1300" b="0">
                          <a:solidFill>
                            <a:srgbClr val="1A1A1A"/>
                          </a:solidFill>
                          <a:latin typeface="Arial"/>
                        </a:rPr>
                        <a:t>FF++, Celeb-DF</a:t>
                      </a:r>
                    </a:p>
                  </a:txBody>
                  <a:tcPr anchor="ctr">
                    <a:solidFill>
                      <a:srgbClr val="FFFFFF"/>
                    </a:solidFill>
                  </a:tcPr>
                </a:tc>
                <a:tc>
                  <a:txBody>
                    <a:bodyPr/>
                    <a:lstStyle/>
                    <a:p>
                      <a:r>
                        <a:rPr sz="1300" b="0">
                          <a:solidFill>
                            <a:srgbClr val="1A1A1A"/>
                          </a:solidFill>
                          <a:latin typeface="Arial"/>
                        </a:rPr>
                        <a:t>88%</a:t>
                      </a:r>
                    </a:p>
                  </a:txBody>
                  <a:tcPr anchor="ctr">
                    <a:solidFill>
                      <a:srgbClr val="FFFFFF"/>
                    </a:solidFill>
                  </a:tcPr>
                </a:tc>
                <a:extLst>
                  <a:ext uri="{0D108BD9-81ED-4DB2-BD59-A6C34878D82A}">
                    <a16:rowId xmlns:a16="http://schemas.microsoft.com/office/drawing/2014/main" val="10005"/>
                  </a:ext>
                </a:extLst>
              </a:tr>
              <a:tr h="402336">
                <a:tc>
                  <a:txBody>
                    <a:bodyPr/>
                    <a:lstStyle/>
                    <a:p>
                      <a:r>
                        <a:rPr sz="1300" b="0">
                          <a:solidFill>
                            <a:srgbClr val="1A1A1A"/>
                          </a:solidFill>
                          <a:latin typeface="Arial"/>
                        </a:rPr>
                        <a:t>2022</a:t>
                      </a:r>
                    </a:p>
                  </a:txBody>
                  <a:tcPr anchor="ctr">
                    <a:solidFill>
                      <a:srgbClr val="F2F7F4"/>
                    </a:solidFill>
                  </a:tcPr>
                </a:tc>
                <a:tc>
                  <a:txBody>
                    <a:bodyPr/>
                    <a:lstStyle/>
                    <a:p>
                      <a:r>
                        <a:rPr sz="1300" b="0">
                          <a:solidFill>
                            <a:srgbClr val="1A1A1A"/>
                          </a:solidFill>
                          <a:latin typeface="Arial"/>
                        </a:rPr>
                        <a:t>MTCNN + EfficientNet</a:t>
                      </a:r>
                    </a:p>
                  </a:txBody>
                  <a:tcPr anchor="ctr">
                    <a:solidFill>
                      <a:srgbClr val="F2F7F4"/>
                    </a:solidFill>
                  </a:tcPr>
                </a:tc>
                <a:tc>
                  <a:txBody>
                    <a:bodyPr/>
                    <a:lstStyle/>
                    <a:p>
                      <a:r>
                        <a:rPr sz="1300" b="0">
                          <a:solidFill>
                            <a:srgbClr val="1A1A1A"/>
                          </a:solidFill>
                          <a:latin typeface="Arial"/>
                        </a:rPr>
                        <a:t>FaceForensics++</a:t>
                      </a:r>
                    </a:p>
                  </a:txBody>
                  <a:tcPr anchor="ctr">
                    <a:solidFill>
                      <a:srgbClr val="F2F7F4"/>
                    </a:solidFill>
                  </a:tcPr>
                </a:tc>
                <a:tc>
                  <a:txBody>
                    <a:bodyPr/>
                    <a:lstStyle/>
                    <a:p>
                      <a:r>
                        <a:rPr sz="1300" b="0">
                          <a:solidFill>
                            <a:srgbClr val="1A1A1A"/>
                          </a:solidFill>
                          <a:latin typeface="Arial"/>
                        </a:rPr>
                        <a:t>62.5%</a:t>
                      </a:r>
                    </a:p>
                  </a:txBody>
                  <a:tcPr anchor="ctr">
                    <a:solidFill>
                      <a:srgbClr val="F2F7F4"/>
                    </a:solidFill>
                  </a:tcPr>
                </a:tc>
                <a:extLst>
                  <a:ext uri="{0D108BD9-81ED-4DB2-BD59-A6C34878D82A}">
                    <a16:rowId xmlns:a16="http://schemas.microsoft.com/office/drawing/2014/main" val="10006"/>
                  </a:ext>
                </a:extLst>
              </a:tr>
              <a:tr h="402336">
                <a:tc>
                  <a:txBody>
                    <a:bodyPr/>
                    <a:lstStyle/>
                    <a:p>
                      <a:r>
                        <a:rPr sz="1300" b="0">
                          <a:solidFill>
                            <a:srgbClr val="1A1A1A"/>
                          </a:solidFill>
                          <a:latin typeface="Arial"/>
                        </a:rPr>
                        <a:t>2021</a:t>
                      </a:r>
                    </a:p>
                  </a:txBody>
                  <a:tcPr anchor="ctr">
                    <a:solidFill>
                      <a:srgbClr val="FFFFFF"/>
                    </a:solidFill>
                  </a:tcPr>
                </a:tc>
                <a:tc>
                  <a:txBody>
                    <a:bodyPr/>
                    <a:lstStyle/>
                    <a:p>
                      <a:r>
                        <a:rPr sz="1300" b="0">
                          <a:solidFill>
                            <a:srgbClr val="1A1A1A"/>
                          </a:solidFill>
                          <a:latin typeface="Arial"/>
                        </a:rPr>
                        <a:t>EfficientNet versions</a:t>
                      </a:r>
                    </a:p>
                  </a:txBody>
                  <a:tcPr anchor="ctr">
                    <a:solidFill>
                      <a:srgbClr val="FFFFFF"/>
                    </a:solidFill>
                  </a:tcPr>
                </a:tc>
                <a:tc>
                  <a:txBody>
                    <a:bodyPr/>
                    <a:lstStyle/>
                    <a:p>
                      <a:r>
                        <a:rPr sz="1300" b="0">
                          <a:solidFill>
                            <a:srgbClr val="1A1A1A"/>
                          </a:solidFill>
                          <a:latin typeface="Arial"/>
                        </a:rPr>
                        <a:t>DFDC</a:t>
                      </a:r>
                    </a:p>
                  </a:txBody>
                  <a:tcPr anchor="ctr">
                    <a:solidFill>
                      <a:srgbClr val="FFFFFF"/>
                    </a:solidFill>
                  </a:tcPr>
                </a:tc>
                <a:tc>
                  <a:txBody>
                    <a:bodyPr/>
                    <a:lstStyle/>
                    <a:p>
                      <a:r>
                        <a:rPr sz="1300" b="0">
                          <a:solidFill>
                            <a:srgbClr val="1A1A1A"/>
                          </a:solidFill>
                          <a:latin typeface="Arial"/>
                        </a:rPr>
                        <a:t>82.9%</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5" name="Rectangle 4"/>
          <p:cNvSpPr/>
          <p:nvPr/>
        </p:nvSpPr>
        <p:spPr>
          <a:xfrm>
            <a:off x="822960" y="4754880"/>
            <a:ext cx="10515600" cy="1097280"/>
          </a:xfrm>
          <a:prstGeom prst="rect">
            <a:avLst/>
          </a:prstGeom>
          <a:solidFill>
            <a:srgbClr val="E7EFE9"/>
          </a:solidFill>
          <a:ln w="12700">
            <a:solidFill>
              <a:srgbClr val="3E6E56"/>
            </a:solid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sz="1500" b="1">
                <a:solidFill>
                  <a:srgbClr val="1A1A1A"/>
                </a:solidFill>
                <a:latin typeface="Arial"/>
              </a:rPr>
              <a:t>Research gap: </a:t>
            </a:r>
            <a:r>
              <a:rPr sz="1500" b="0">
                <a:solidFill>
                  <a:srgbClr val="1A1A1A"/>
                </a:solidFill>
                <a:latin typeface="Arial"/>
              </a:rPr>
              <a:t>accurate models (attention, OLSTM, hybrids) are computationally heavy, while light models (MesoNet, plain EfficientNet) lose accuracy or ignore temporal cues. This paper combines Enhanced EfficientNet B0 with a TCN to get both accuracy and low cost (0.45 GFLOPs).</a:t>
            </a:r>
          </a:p>
        </p:txBody>
      </p:sp>
    </p:spTree>
  </p:cSld>
  <p:clrMapOvr>
    <a:masterClrMapping/>
  </p:clrMapOvr>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B93026-B8A4-4FE9-8E48-8009734911E7}" vid="{E43B60F7-EC4F-4A08-AFF5-BDC94162E5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Bjorn</Template>
  <TotalTime>566</TotalTime>
  <Words>2606</Words>
  <Application>Microsoft Office PowerPoint</Application>
  <PresentationFormat>Widescreen</PresentationFormat>
  <Paragraphs>306</Paragraphs>
  <Slides>26</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Aerial</vt:lpstr>
      <vt:lpstr>Arial</vt:lpstr>
      <vt:lpstr>Calibri</vt:lpstr>
      <vt:lpstr>Cambria</vt:lpstr>
      <vt:lpstr>Courier New</vt:lpstr>
      <vt:lpstr>Neue Haas Grotesk Text Pro</vt:lpstr>
      <vt:lpstr>Times New Roman</vt:lpstr>
      <vt:lpstr>Helena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jia c</cp:lastModifiedBy>
  <cp:revision>8</cp:revision>
  <dcterms:created xsi:type="dcterms:W3CDTF">2026-09-17T00:24:30Z</dcterms:created>
  <dcterms:modified xsi:type="dcterms:W3CDTF">2026-10-08T02:14:11Z</dcterms:modified>
</cp:coreProperties>
</file>